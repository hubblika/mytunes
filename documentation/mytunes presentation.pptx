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549" r:id="rId5"/>
    <p:sldId id="259" r:id="rId6"/>
    <p:sldId id="550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6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329" y="1300226"/>
            <a:ext cx="7087135" cy="71145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7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44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33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3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7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1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51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73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83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25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AA8B377-B0E9-849D-95CE-02D0328284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20774" y="-4422774"/>
            <a:ext cx="9531351" cy="1451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1313" y="1022671"/>
            <a:ext cx="7087135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Ábra 7">
            <a:extLst>
              <a:ext uri="{FF2B5EF4-FFF2-40B4-BE49-F238E27FC236}">
                <a16:creationId xmlns:a16="http://schemas.microsoft.com/office/drawing/2014/main" id="{6CC3765A-F44C-887C-A348-AAB31C7F63C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4013" y="1022671"/>
            <a:ext cx="12573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66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66" r:id="rId6"/>
    <p:sldLayoutId id="2147483762" r:id="rId7"/>
    <p:sldLayoutId id="2147483763" r:id="rId8"/>
    <p:sldLayoutId id="2147483764" r:id="rId9"/>
    <p:sldLayoutId id="2147483765" r:id="rId10"/>
    <p:sldLayoutId id="21474837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E268AEE-6A3F-31E6-0D87-3F8ECBA8B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r>
              <a:rPr lang="hu-HU" dirty="0" err="1">
                <a:latin typeface="Montserrat" panose="00000500000000000000" pitchFamily="2" charset="-18"/>
              </a:rPr>
              <a:t>MyTunes</a:t>
            </a:r>
            <a:r>
              <a:rPr lang="hu-HU" dirty="0">
                <a:latin typeface="Montserrat" panose="00000500000000000000" pitchFamily="2" charset="-18"/>
              </a:rPr>
              <a:t> – zene streaming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BFF1854-A625-5790-D9B8-F98345F02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r>
              <a:rPr lang="hu-HU" dirty="0">
                <a:latin typeface="Montserrat" panose="00000500000000000000" pitchFamily="2" charset="-18"/>
              </a:rPr>
              <a:t>Készítette: Nagy Ákos és Bernáth Ábel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>
            <a:extLst>
              <a:ext uri="{FF2B5EF4-FFF2-40B4-BE49-F238E27FC236}">
                <a16:creationId xmlns:a16="http://schemas.microsoft.com/office/drawing/2014/main" id="{5854CFBB-69F2-3D8A-87BC-E19F2F1F9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30" r="1" b="1"/>
          <a:stretch>
            <a:fillRect/>
          </a:stretch>
        </p:blipFill>
        <p:spPr bwMode="auto">
          <a:xfrm>
            <a:off x="6515100" y="10"/>
            <a:ext cx="56769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Ábra 6">
            <a:extLst>
              <a:ext uri="{FF2B5EF4-FFF2-40B4-BE49-F238E27FC236}">
                <a16:creationId xmlns:a16="http://schemas.microsoft.com/office/drawing/2014/main" id="{DFFC11B7-F30A-0E62-48E8-932B195E2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9133" y="742526"/>
            <a:ext cx="5372947" cy="537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74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BE8F1F-1719-9771-4F55-6AAE19C2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75D41E2-D23B-D661-B4DB-4D2EC58DF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Zene streaming alkalmazás létrehozása</a:t>
            </a:r>
          </a:p>
          <a:p>
            <a:r>
              <a:rPr lang="hu-HU" dirty="0"/>
              <a:t>Web, asztali és mobil platformokra</a:t>
            </a:r>
          </a:p>
          <a:p>
            <a:r>
              <a:rPr lang="hu-HU" dirty="0"/>
              <a:t>Ingyenes felhasználói modell</a:t>
            </a:r>
          </a:p>
        </p:txBody>
      </p:sp>
    </p:spTree>
    <p:extLst>
      <p:ext uri="{BB962C8B-B14F-4D97-AF65-F5344CB8AC3E}">
        <p14:creationId xmlns:p14="http://schemas.microsoft.com/office/powerpoint/2010/main" val="89891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E7E995-28CE-539D-9F15-61D364B1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készítői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D8D0D22-0D25-D8AB-F464-4FF953920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480827" cy="3566160"/>
          </a:xfrm>
        </p:spPr>
        <p:txBody>
          <a:bodyPr/>
          <a:lstStyle/>
          <a:p>
            <a:r>
              <a:rPr lang="hu-HU" dirty="0"/>
              <a:t>Bernáth Ábel (beosztás, feladatok)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Nagy Ákos (-”-)</a:t>
            </a:r>
          </a:p>
        </p:txBody>
      </p:sp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203D621B-A310-AAF6-F1D2-56EE41B1C99B}"/>
              </a:ext>
            </a:extLst>
          </p:cNvPr>
          <p:cNvSpPr/>
          <p:nvPr/>
        </p:nvSpPr>
        <p:spPr>
          <a:xfrm>
            <a:off x="7845509" y="1670262"/>
            <a:ext cx="2401909" cy="240190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Folyamatábra: Bekötés 7">
            <a:extLst>
              <a:ext uri="{FF2B5EF4-FFF2-40B4-BE49-F238E27FC236}">
                <a16:creationId xmlns:a16="http://schemas.microsoft.com/office/drawing/2014/main" id="{711D1612-9D87-B650-718B-4311B016CD26}"/>
              </a:ext>
            </a:extLst>
          </p:cNvPr>
          <p:cNvSpPr/>
          <p:nvPr/>
        </p:nvSpPr>
        <p:spPr>
          <a:xfrm>
            <a:off x="7845509" y="4295406"/>
            <a:ext cx="2401909" cy="240190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5573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>
            <a:extLst>
              <a:ext uri="{FF2B5EF4-FFF2-40B4-BE49-F238E27FC236}">
                <a16:creationId xmlns:a16="http://schemas.microsoft.com/office/drawing/2014/main" id="{900E9161-FC3A-4C7A-BDE0-321383B3F6BF}"/>
              </a:ext>
            </a:extLst>
          </p:cNvPr>
          <p:cNvSpPr txBox="1"/>
          <p:nvPr/>
        </p:nvSpPr>
        <p:spPr>
          <a:xfrm>
            <a:off x="2307054" y="3781981"/>
            <a:ext cx="3797413" cy="918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Számottevő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tapasztalat</a:t>
            </a:r>
            <a:r>
              <a:rPr lang="hu-HU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unk</a:t>
            </a:r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van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webes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és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asztali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alkalmazások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fejlesztésében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,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anose="02000505000000020004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0BBC15-5E2C-489F-8995-8D7ECA5EE310}"/>
              </a:ext>
            </a:extLst>
          </p:cNvPr>
          <p:cNvSpPr txBox="1"/>
          <p:nvPr/>
        </p:nvSpPr>
        <p:spPr>
          <a:xfrm>
            <a:off x="2307054" y="3464451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Erősségek</a:t>
            </a:r>
            <a:endParaRPr lang="en-US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Montserrat ExtraBold" panose="00000900000000000000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9FEE7E67-7ADE-4E67-BEC8-32167C43CB64}"/>
              </a:ext>
            </a:extLst>
          </p:cNvPr>
          <p:cNvSpPr/>
          <p:nvPr/>
        </p:nvSpPr>
        <p:spPr>
          <a:xfrm>
            <a:off x="6322028" y="3275489"/>
            <a:ext cx="1332166" cy="1332166"/>
          </a:xfrm>
          <a:custGeom>
            <a:avLst/>
            <a:gdLst>
              <a:gd name="connsiteX0" fmla="*/ 0 w 1332166"/>
              <a:gd name="connsiteY0" fmla="*/ 0 h 1332166"/>
              <a:gd name="connsiteX1" fmla="*/ 1332166 w 1332166"/>
              <a:gd name="connsiteY1" fmla="*/ 0 h 1332166"/>
              <a:gd name="connsiteX2" fmla="*/ 1332166 w 1332166"/>
              <a:gd name="connsiteY2" fmla="*/ 1332167 h 1332166"/>
              <a:gd name="connsiteX3" fmla="*/ 0 w 1332166"/>
              <a:gd name="connsiteY3" fmla="*/ 1332167 h 133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166" h="1332166">
                <a:moveTo>
                  <a:pt x="0" y="0"/>
                </a:moveTo>
                <a:lnTo>
                  <a:pt x="1332166" y="0"/>
                </a:lnTo>
                <a:lnTo>
                  <a:pt x="1332166" y="1332167"/>
                </a:lnTo>
                <a:lnTo>
                  <a:pt x="0" y="1332167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3122C8E7-869C-4529-BC7C-D2BC65E84EE5}"/>
              </a:ext>
            </a:extLst>
          </p:cNvPr>
          <p:cNvSpPr/>
          <p:nvPr/>
        </p:nvSpPr>
        <p:spPr>
          <a:xfrm>
            <a:off x="687705" y="3275489"/>
            <a:ext cx="1332166" cy="1332166"/>
          </a:xfrm>
          <a:custGeom>
            <a:avLst/>
            <a:gdLst>
              <a:gd name="connsiteX0" fmla="*/ 0 w 1332166"/>
              <a:gd name="connsiteY0" fmla="*/ 0 h 1332166"/>
              <a:gd name="connsiteX1" fmla="*/ 1332167 w 1332166"/>
              <a:gd name="connsiteY1" fmla="*/ 0 h 1332166"/>
              <a:gd name="connsiteX2" fmla="*/ 1332167 w 1332166"/>
              <a:gd name="connsiteY2" fmla="*/ 1332167 h 1332166"/>
              <a:gd name="connsiteX3" fmla="*/ 0 w 1332166"/>
              <a:gd name="connsiteY3" fmla="*/ 1332167 h 133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166" h="1332166">
                <a:moveTo>
                  <a:pt x="0" y="0"/>
                </a:moveTo>
                <a:lnTo>
                  <a:pt x="1332167" y="0"/>
                </a:lnTo>
                <a:lnTo>
                  <a:pt x="1332167" y="1332167"/>
                </a:lnTo>
                <a:lnTo>
                  <a:pt x="0" y="1332167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FE083B4-FECD-48E8-9302-74F87F9A0147}"/>
              </a:ext>
            </a:extLst>
          </p:cNvPr>
          <p:cNvSpPr txBox="1"/>
          <p:nvPr/>
        </p:nvSpPr>
        <p:spPr>
          <a:xfrm>
            <a:off x="924025" y="3526074"/>
            <a:ext cx="859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94F892-A806-43A6-B13D-68F78A76649C}"/>
              </a:ext>
            </a:extLst>
          </p:cNvPr>
          <p:cNvSpPr txBox="1"/>
          <p:nvPr/>
        </p:nvSpPr>
        <p:spPr>
          <a:xfrm>
            <a:off x="6558348" y="3526074"/>
            <a:ext cx="859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A89E78-433E-4570-BD64-4929224E95E3}"/>
              </a:ext>
            </a:extLst>
          </p:cNvPr>
          <p:cNvSpPr txBox="1"/>
          <p:nvPr/>
        </p:nvSpPr>
        <p:spPr>
          <a:xfrm>
            <a:off x="7941314" y="3781981"/>
            <a:ext cx="4215882" cy="918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Lehetőségünk nyílik az együttműködés készségét fejleszteni a csapatmunkának köszönhetően.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anose="02000505000000020004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AEA254-7458-4209-AB60-A8FD9432E771}"/>
              </a:ext>
            </a:extLst>
          </p:cNvPr>
          <p:cNvSpPr txBox="1"/>
          <p:nvPr/>
        </p:nvSpPr>
        <p:spPr>
          <a:xfrm>
            <a:off x="7941314" y="3464451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2">
                    <a:lumMod val="25000"/>
                  </a:schemeClr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Lehetőségek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 ExtraBold" panose="00000900000000000000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E96AA28-ADF6-4B19-AFE8-277951610AAE}"/>
              </a:ext>
            </a:extLst>
          </p:cNvPr>
          <p:cNvSpPr/>
          <p:nvPr/>
        </p:nvSpPr>
        <p:spPr>
          <a:xfrm rot="5400000">
            <a:off x="4970828" y="-1919"/>
            <a:ext cx="2250345" cy="11469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E38A96-ECAE-4DD5-B775-C640A4913C0B}"/>
              </a:ext>
            </a:extLst>
          </p:cNvPr>
          <p:cNvSpPr txBox="1"/>
          <p:nvPr/>
        </p:nvSpPr>
        <p:spPr>
          <a:xfrm>
            <a:off x="2307054" y="5114147"/>
            <a:ext cx="3797413" cy="918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Mobilalkalmazás-fejlesztésben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nem rendelkezünk elég tapasztalattal.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anose="02000505000000020004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880964-921D-41B2-AF39-0F312D94947A}"/>
              </a:ext>
            </a:extLst>
          </p:cNvPr>
          <p:cNvSpPr txBox="1"/>
          <p:nvPr/>
        </p:nvSpPr>
        <p:spPr>
          <a:xfrm>
            <a:off x="2307054" y="4796617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2">
                    <a:lumMod val="25000"/>
                  </a:schemeClr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Gyengeségek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 ExtraBold" panose="00000900000000000000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32A09E6-8483-4090-816E-959E3B326AA1}"/>
              </a:ext>
            </a:extLst>
          </p:cNvPr>
          <p:cNvSpPr txBox="1"/>
          <p:nvPr/>
        </p:nvSpPr>
        <p:spPr>
          <a:xfrm>
            <a:off x="1517235" y="1644694"/>
            <a:ext cx="10113933" cy="1483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A </a:t>
            </a:r>
            <a:r>
              <a:rPr lang="hu-HU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MyTunes</a:t>
            </a:r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egy modern, rugalmas és felhasználóközpontú zene-streaming platform, amely a minőségi hangzásra, a személyre szabott ajánlásokra és a tiszta, egyszerű felhasználói élményre helyezi a hangsúlyt. A következő SWOT elemzés áttekintést ad a projekt erősségeiről, gyengeségeiről, lehetőségeiről és a piacon jelen lévő fenyegetésekről, hogy segítsen stratégiai döntések meghozatalában és a szolgáltatás hosszú távú sikerének megalapozásában.</a:t>
            </a:r>
            <a:endParaRPr lang="en-US" sz="1600" spc="0" baseline="0" dirty="0">
              <a:solidFill>
                <a:schemeClr val="bg2">
                  <a:lumMod val="25000"/>
                </a:schemeClr>
              </a:solidFill>
              <a:latin typeface="Montserrat" panose="02000505000000020004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C2548A6-03B8-4219-B52F-086BA7CC29FC}"/>
              </a:ext>
            </a:extLst>
          </p:cNvPr>
          <p:cNvSpPr/>
          <p:nvPr/>
        </p:nvSpPr>
        <p:spPr>
          <a:xfrm rot="5400000">
            <a:off x="185239" y="1391744"/>
            <a:ext cx="1051919" cy="1422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D7A453F-8DB0-473E-84ED-8E9CC6F9B405}"/>
              </a:ext>
            </a:extLst>
          </p:cNvPr>
          <p:cNvSpPr txBox="1"/>
          <p:nvPr/>
        </p:nvSpPr>
        <p:spPr>
          <a:xfrm>
            <a:off x="596265" y="552725"/>
            <a:ext cx="2512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Projekt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 panose="02000505000000020004" pitchFamily="2" charset="0"/>
                <a:cs typeface="Poppins"/>
                <a:sym typeface="Poppins"/>
                <a:rtl val="0"/>
              </a:rPr>
              <a:t>SWOT </a:t>
            </a:r>
            <a:r>
              <a:rPr lang="hu-HU" sz="1600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 panose="02000505000000020004" pitchFamily="2" charset="0"/>
                <a:cs typeface="Poppins"/>
                <a:sym typeface="Poppins"/>
                <a:rtl val="0"/>
              </a:rPr>
              <a:t>Analízis</a:t>
            </a:r>
            <a:r>
              <a:rPr lang="en-US" sz="1600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327AAA5-BCBE-463C-9654-CF9DED3B447C}"/>
              </a:ext>
            </a:extLst>
          </p:cNvPr>
          <p:cNvSpPr txBox="1"/>
          <p:nvPr/>
        </p:nvSpPr>
        <p:spPr>
          <a:xfrm>
            <a:off x="596265" y="930648"/>
            <a:ext cx="836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dirty="0" err="1">
                <a:solidFill>
                  <a:schemeClr val="bg2">
                    <a:lumMod val="25000"/>
                  </a:schemeClr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MyTunes</a:t>
            </a:r>
            <a:r>
              <a:rPr lang="hu-HU" sz="3600" dirty="0">
                <a:solidFill>
                  <a:schemeClr val="bg2">
                    <a:lumMod val="25000"/>
                  </a:schemeClr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 Projekt </a:t>
            </a:r>
            <a:r>
              <a:rPr lang="en-US" sz="3600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SWOT Anal</a:t>
            </a:r>
            <a:r>
              <a:rPr lang="hu-HU" sz="3600" dirty="0" err="1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ízise</a:t>
            </a:r>
            <a:endParaRPr lang="en-US" sz="3600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Montserrat ExtraBold" panose="00000900000000000000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EEA53D05-02D9-431E-9DCE-38B867A9F885}"/>
              </a:ext>
            </a:extLst>
          </p:cNvPr>
          <p:cNvSpPr/>
          <p:nvPr/>
        </p:nvSpPr>
        <p:spPr>
          <a:xfrm>
            <a:off x="687705" y="1749689"/>
            <a:ext cx="708850" cy="708850"/>
          </a:xfrm>
          <a:custGeom>
            <a:avLst/>
            <a:gdLst>
              <a:gd name="connsiteX0" fmla="*/ 708850 w 708850"/>
              <a:gd name="connsiteY0" fmla="*/ 354425 h 708850"/>
              <a:gd name="connsiteX1" fmla="*/ 354425 w 708850"/>
              <a:gd name="connsiteY1" fmla="*/ 708851 h 708850"/>
              <a:gd name="connsiteX2" fmla="*/ 0 w 708850"/>
              <a:gd name="connsiteY2" fmla="*/ 354425 h 708850"/>
              <a:gd name="connsiteX3" fmla="*/ 354425 w 708850"/>
              <a:gd name="connsiteY3" fmla="*/ 0 h 708850"/>
              <a:gd name="connsiteX4" fmla="*/ 708850 w 708850"/>
              <a:gd name="connsiteY4" fmla="*/ 354425 h 70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850" h="708850">
                <a:moveTo>
                  <a:pt x="708850" y="354425"/>
                </a:moveTo>
                <a:cubicBezTo>
                  <a:pt x="708850" y="550169"/>
                  <a:pt x="550169" y="708851"/>
                  <a:pt x="354425" y="708851"/>
                </a:cubicBezTo>
                <a:cubicBezTo>
                  <a:pt x="158682" y="708851"/>
                  <a:pt x="0" y="550169"/>
                  <a:pt x="0" y="354425"/>
                </a:cubicBezTo>
                <a:cubicBezTo>
                  <a:pt x="0" y="158681"/>
                  <a:pt x="158682" y="0"/>
                  <a:pt x="354425" y="0"/>
                </a:cubicBezTo>
                <a:cubicBezTo>
                  <a:pt x="550169" y="0"/>
                  <a:pt x="708850" y="158681"/>
                  <a:pt x="708850" y="354425"/>
                </a:cubicBezTo>
                <a:close/>
              </a:path>
            </a:pathLst>
          </a:custGeom>
          <a:gradFill>
            <a:gsLst>
              <a:gs pos="0">
                <a:srgbClr val="5D28FE"/>
              </a:gs>
              <a:gs pos="100000">
                <a:srgbClr val="BB66DD"/>
              </a:gs>
            </a:gsLst>
            <a:lin ang="108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5D68EEDD-B351-4D73-A4BF-503963FD2BC4}"/>
              </a:ext>
            </a:extLst>
          </p:cNvPr>
          <p:cNvSpPr/>
          <p:nvPr/>
        </p:nvSpPr>
        <p:spPr>
          <a:xfrm>
            <a:off x="920806" y="1982820"/>
            <a:ext cx="242649" cy="242589"/>
          </a:xfrm>
          <a:custGeom>
            <a:avLst/>
            <a:gdLst>
              <a:gd name="connsiteX0" fmla="*/ 241506 w 242649"/>
              <a:gd name="connsiteY0" fmla="*/ 9716 h 242589"/>
              <a:gd name="connsiteX1" fmla="*/ 241125 w 242649"/>
              <a:gd name="connsiteY1" fmla="*/ 8858 h 242589"/>
              <a:gd name="connsiteX2" fmla="*/ 240840 w 242649"/>
              <a:gd name="connsiteY2" fmla="*/ 8287 h 242589"/>
              <a:gd name="connsiteX3" fmla="*/ 238744 w 242649"/>
              <a:gd name="connsiteY3" fmla="*/ 5239 h 242589"/>
              <a:gd name="connsiteX4" fmla="*/ 238363 w 242649"/>
              <a:gd name="connsiteY4" fmla="*/ 4763 h 242589"/>
              <a:gd name="connsiteX5" fmla="*/ 238077 w 242649"/>
              <a:gd name="connsiteY5" fmla="*/ 4382 h 242589"/>
              <a:gd name="connsiteX6" fmla="*/ 237696 w 242649"/>
              <a:gd name="connsiteY6" fmla="*/ 4096 h 242589"/>
              <a:gd name="connsiteX7" fmla="*/ 237220 w 242649"/>
              <a:gd name="connsiteY7" fmla="*/ 3715 h 242589"/>
              <a:gd name="connsiteX8" fmla="*/ 234172 w 242649"/>
              <a:gd name="connsiteY8" fmla="*/ 1619 h 242589"/>
              <a:gd name="connsiteX9" fmla="*/ 233601 w 242649"/>
              <a:gd name="connsiteY9" fmla="*/ 1333 h 242589"/>
              <a:gd name="connsiteX10" fmla="*/ 232743 w 242649"/>
              <a:gd name="connsiteY10" fmla="*/ 953 h 242589"/>
              <a:gd name="connsiteX11" fmla="*/ 232362 w 242649"/>
              <a:gd name="connsiteY11" fmla="*/ 857 h 242589"/>
              <a:gd name="connsiteX12" fmla="*/ 228362 w 242649"/>
              <a:gd name="connsiteY12" fmla="*/ 0 h 242589"/>
              <a:gd name="connsiteX13" fmla="*/ 228076 w 242649"/>
              <a:gd name="connsiteY13" fmla="*/ 0 h 242589"/>
              <a:gd name="connsiteX14" fmla="*/ 227886 w 242649"/>
              <a:gd name="connsiteY14" fmla="*/ 0 h 242589"/>
              <a:gd name="connsiteX15" fmla="*/ 226933 w 242649"/>
              <a:gd name="connsiteY15" fmla="*/ 0 h 242589"/>
              <a:gd name="connsiteX16" fmla="*/ 226743 w 242649"/>
              <a:gd name="connsiteY16" fmla="*/ 0 h 242589"/>
              <a:gd name="connsiteX17" fmla="*/ 89011 w 242649"/>
              <a:gd name="connsiteY17" fmla="*/ 6096 h 242589"/>
              <a:gd name="connsiteX18" fmla="*/ 74533 w 242649"/>
              <a:gd name="connsiteY18" fmla="*/ 21908 h 242589"/>
              <a:gd name="connsiteX19" fmla="*/ 90345 w 242649"/>
              <a:gd name="connsiteY19" fmla="*/ 36386 h 242589"/>
              <a:gd name="connsiteX20" fmla="*/ 189024 w 242649"/>
              <a:gd name="connsiteY20" fmla="*/ 32004 h 242589"/>
              <a:gd name="connsiteX21" fmla="*/ 4429 w 242649"/>
              <a:gd name="connsiteY21" fmla="*/ 216599 h 242589"/>
              <a:gd name="connsiteX22" fmla="*/ 4429 w 242649"/>
              <a:gd name="connsiteY22" fmla="*/ 238125 h 242589"/>
              <a:gd name="connsiteX23" fmla="*/ 25956 w 242649"/>
              <a:gd name="connsiteY23" fmla="*/ 238125 h 242589"/>
              <a:gd name="connsiteX24" fmla="*/ 210550 w 242649"/>
              <a:gd name="connsiteY24" fmla="*/ 53530 h 242589"/>
              <a:gd name="connsiteX25" fmla="*/ 206169 w 242649"/>
              <a:gd name="connsiteY25" fmla="*/ 152209 h 242589"/>
              <a:gd name="connsiteX26" fmla="*/ 220647 w 242649"/>
              <a:gd name="connsiteY26" fmla="*/ 168021 h 242589"/>
              <a:gd name="connsiteX27" fmla="*/ 232077 w 242649"/>
              <a:gd name="connsiteY27" fmla="*/ 163544 h 242589"/>
              <a:gd name="connsiteX28" fmla="*/ 236553 w 242649"/>
              <a:gd name="connsiteY28" fmla="*/ 153448 h 242589"/>
              <a:gd name="connsiteX29" fmla="*/ 242649 w 242649"/>
              <a:gd name="connsiteY29" fmla="*/ 15621 h 242589"/>
              <a:gd name="connsiteX30" fmla="*/ 242649 w 242649"/>
              <a:gd name="connsiteY30" fmla="*/ 15430 h 242589"/>
              <a:gd name="connsiteX31" fmla="*/ 242649 w 242649"/>
              <a:gd name="connsiteY31" fmla="*/ 14573 h 242589"/>
              <a:gd name="connsiteX32" fmla="*/ 242649 w 242649"/>
              <a:gd name="connsiteY32" fmla="*/ 14288 h 242589"/>
              <a:gd name="connsiteX33" fmla="*/ 242649 w 242649"/>
              <a:gd name="connsiteY33" fmla="*/ 14002 h 242589"/>
              <a:gd name="connsiteX34" fmla="*/ 241887 w 242649"/>
              <a:gd name="connsiteY34" fmla="*/ 10001 h 242589"/>
              <a:gd name="connsiteX35" fmla="*/ 241792 w 242649"/>
              <a:gd name="connsiteY35" fmla="*/ 9620 h 242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42649" h="242589">
                <a:moveTo>
                  <a:pt x="241506" y="9716"/>
                </a:moveTo>
                <a:cubicBezTo>
                  <a:pt x="241506" y="9716"/>
                  <a:pt x="241221" y="9144"/>
                  <a:pt x="241125" y="8858"/>
                </a:cubicBezTo>
                <a:cubicBezTo>
                  <a:pt x="241125" y="8668"/>
                  <a:pt x="240935" y="8477"/>
                  <a:pt x="240840" y="8287"/>
                </a:cubicBezTo>
                <a:cubicBezTo>
                  <a:pt x="240268" y="7239"/>
                  <a:pt x="239601" y="6191"/>
                  <a:pt x="238744" y="5239"/>
                </a:cubicBezTo>
                <a:cubicBezTo>
                  <a:pt x="238649" y="5048"/>
                  <a:pt x="238458" y="4953"/>
                  <a:pt x="238363" y="4763"/>
                </a:cubicBezTo>
                <a:cubicBezTo>
                  <a:pt x="238268" y="4667"/>
                  <a:pt x="238173" y="4477"/>
                  <a:pt x="238077" y="4382"/>
                </a:cubicBezTo>
                <a:cubicBezTo>
                  <a:pt x="237982" y="4286"/>
                  <a:pt x="237792" y="4191"/>
                  <a:pt x="237696" y="4096"/>
                </a:cubicBezTo>
                <a:cubicBezTo>
                  <a:pt x="237506" y="4000"/>
                  <a:pt x="237411" y="3810"/>
                  <a:pt x="237220" y="3715"/>
                </a:cubicBezTo>
                <a:cubicBezTo>
                  <a:pt x="236268" y="2858"/>
                  <a:pt x="235220" y="2191"/>
                  <a:pt x="234172" y="1619"/>
                </a:cubicBezTo>
                <a:cubicBezTo>
                  <a:pt x="233982" y="1524"/>
                  <a:pt x="233791" y="1429"/>
                  <a:pt x="233601" y="1333"/>
                </a:cubicBezTo>
                <a:cubicBezTo>
                  <a:pt x="233315" y="1238"/>
                  <a:pt x="233029" y="1048"/>
                  <a:pt x="232743" y="953"/>
                </a:cubicBezTo>
                <a:cubicBezTo>
                  <a:pt x="232648" y="953"/>
                  <a:pt x="232458" y="953"/>
                  <a:pt x="232362" y="857"/>
                </a:cubicBezTo>
                <a:cubicBezTo>
                  <a:pt x="231029" y="381"/>
                  <a:pt x="229695" y="95"/>
                  <a:pt x="228362" y="0"/>
                </a:cubicBezTo>
                <a:cubicBezTo>
                  <a:pt x="228267" y="0"/>
                  <a:pt x="228171" y="0"/>
                  <a:pt x="228076" y="0"/>
                </a:cubicBezTo>
                <a:cubicBezTo>
                  <a:pt x="228076" y="0"/>
                  <a:pt x="227981" y="0"/>
                  <a:pt x="227886" y="0"/>
                </a:cubicBezTo>
                <a:cubicBezTo>
                  <a:pt x="227600" y="0"/>
                  <a:pt x="227219" y="0"/>
                  <a:pt x="226933" y="0"/>
                </a:cubicBezTo>
                <a:cubicBezTo>
                  <a:pt x="226933" y="0"/>
                  <a:pt x="226838" y="0"/>
                  <a:pt x="226743" y="0"/>
                </a:cubicBezTo>
                <a:lnTo>
                  <a:pt x="89011" y="6096"/>
                </a:lnTo>
                <a:cubicBezTo>
                  <a:pt x="80629" y="6477"/>
                  <a:pt x="74152" y="13525"/>
                  <a:pt x="74533" y="21908"/>
                </a:cubicBezTo>
                <a:cubicBezTo>
                  <a:pt x="74914" y="30290"/>
                  <a:pt x="81963" y="36767"/>
                  <a:pt x="90345" y="36386"/>
                </a:cubicBezTo>
                <a:lnTo>
                  <a:pt x="189024" y="32004"/>
                </a:lnTo>
                <a:lnTo>
                  <a:pt x="4429" y="216599"/>
                </a:lnTo>
                <a:cubicBezTo>
                  <a:pt x="-1476" y="222504"/>
                  <a:pt x="-1476" y="232124"/>
                  <a:pt x="4429" y="238125"/>
                </a:cubicBezTo>
                <a:cubicBezTo>
                  <a:pt x="10335" y="244126"/>
                  <a:pt x="19955" y="244030"/>
                  <a:pt x="25956" y="238125"/>
                </a:cubicBezTo>
                <a:lnTo>
                  <a:pt x="210550" y="53530"/>
                </a:lnTo>
                <a:lnTo>
                  <a:pt x="206169" y="152209"/>
                </a:lnTo>
                <a:cubicBezTo>
                  <a:pt x="205788" y="160592"/>
                  <a:pt x="212265" y="167640"/>
                  <a:pt x="220647" y="168021"/>
                </a:cubicBezTo>
                <a:cubicBezTo>
                  <a:pt x="225123" y="168212"/>
                  <a:pt x="229124" y="166497"/>
                  <a:pt x="232077" y="163544"/>
                </a:cubicBezTo>
                <a:cubicBezTo>
                  <a:pt x="234648" y="160972"/>
                  <a:pt x="236363" y="157448"/>
                  <a:pt x="236553" y="153448"/>
                </a:cubicBezTo>
                <a:lnTo>
                  <a:pt x="242649" y="15621"/>
                </a:lnTo>
                <a:cubicBezTo>
                  <a:pt x="242649" y="15621"/>
                  <a:pt x="242649" y="15526"/>
                  <a:pt x="242649" y="15430"/>
                </a:cubicBezTo>
                <a:cubicBezTo>
                  <a:pt x="242649" y="15145"/>
                  <a:pt x="242649" y="14859"/>
                  <a:pt x="242649" y="14573"/>
                </a:cubicBezTo>
                <a:cubicBezTo>
                  <a:pt x="242649" y="14478"/>
                  <a:pt x="242649" y="14383"/>
                  <a:pt x="242649" y="14288"/>
                </a:cubicBezTo>
                <a:cubicBezTo>
                  <a:pt x="242649" y="14192"/>
                  <a:pt x="242649" y="14097"/>
                  <a:pt x="242649" y="14002"/>
                </a:cubicBezTo>
                <a:cubicBezTo>
                  <a:pt x="242649" y="12668"/>
                  <a:pt x="242268" y="11335"/>
                  <a:pt x="241887" y="10001"/>
                </a:cubicBezTo>
                <a:cubicBezTo>
                  <a:pt x="241887" y="9906"/>
                  <a:pt x="241887" y="9716"/>
                  <a:pt x="241792" y="9620"/>
                </a:cubicBezTo>
                <a:close/>
              </a:path>
            </a:pathLst>
          </a:custGeom>
          <a:solidFill>
            <a:srgbClr val="F0F0F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3017F608-B2AC-4C61-8777-293F3C9F3F7E}"/>
              </a:ext>
            </a:extLst>
          </p:cNvPr>
          <p:cNvSpPr/>
          <p:nvPr/>
        </p:nvSpPr>
        <p:spPr>
          <a:xfrm>
            <a:off x="6322028" y="4607655"/>
            <a:ext cx="1332166" cy="1332166"/>
          </a:xfrm>
          <a:custGeom>
            <a:avLst/>
            <a:gdLst>
              <a:gd name="connsiteX0" fmla="*/ 0 w 1332166"/>
              <a:gd name="connsiteY0" fmla="*/ 0 h 1332166"/>
              <a:gd name="connsiteX1" fmla="*/ 1332166 w 1332166"/>
              <a:gd name="connsiteY1" fmla="*/ 0 h 1332166"/>
              <a:gd name="connsiteX2" fmla="*/ 1332166 w 1332166"/>
              <a:gd name="connsiteY2" fmla="*/ 1332166 h 1332166"/>
              <a:gd name="connsiteX3" fmla="*/ 0 w 1332166"/>
              <a:gd name="connsiteY3" fmla="*/ 1332166 h 133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166" h="1332166">
                <a:moveTo>
                  <a:pt x="0" y="0"/>
                </a:moveTo>
                <a:lnTo>
                  <a:pt x="1332166" y="0"/>
                </a:lnTo>
                <a:lnTo>
                  <a:pt x="1332166" y="1332166"/>
                </a:lnTo>
                <a:lnTo>
                  <a:pt x="0" y="133216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l="100000" t="100000"/>
            </a:path>
            <a:tileRect r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A6C3A525-8055-4A9D-93CF-9676265813D7}"/>
              </a:ext>
            </a:extLst>
          </p:cNvPr>
          <p:cNvSpPr/>
          <p:nvPr/>
        </p:nvSpPr>
        <p:spPr>
          <a:xfrm>
            <a:off x="687705" y="4607655"/>
            <a:ext cx="1332166" cy="1332166"/>
          </a:xfrm>
          <a:custGeom>
            <a:avLst/>
            <a:gdLst>
              <a:gd name="connsiteX0" fmla="*/ 0 w 1332166"/>
              <a:gd name="connsiteY0" fmla="*/ 0 h 1332166"/>
              <a:gd name="connsiteX1" fmla="*/ 1332167 w 1332166"/>
              <a:gd name="connsiteY1" fmla="*/ 0 h 1332166"/>
              <a:gd name="connsiteX2" fmla="*/ 1332167 w 1332166"/>
              <a:gd name="connsiteY2" fmla="*/ 1332166 h 1332166"/>
              <a:gd name="connsiteX3" fmla="*/ 0 w 1332166"/>
              <a:gd name="connsiteY3" fmla="*/ 1332166 h 133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166" h="1332166">
                <a:moveTo>
                  <a:pt x="0" y="0"/>
                </a:moveTo>
                <a:lnTo>
                  <a:pt x="1332167" y="0"/>
                </a:lnTo>
                <a:lnTo>
                  <a:pt x="1332167" y="1332166"/>
                </a:lnTo>
                <a:lnTo>
                  <a:pt x="0" y="1332166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64B7FD-8576-4E6D-981B-21F64E5A9502}"/>
              </a:ext>
            </a:extLst>
          </p:cNvPr>
          <p:cNvSpPr txBox="1"/>
          <p:nvPr/>
        </p:nvSpPr>
        <p:spPr>
          <a:xfrm>
            <a:off x="924025" y="4858240"/>
            <a:ext cx="859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D5F35C-3965-4D39-BE41-CF48AD6EF3FE}"/>
              </a:ext>
            </a:extLst>
          </p:cNvPr>
          <p:cNvSpPr txBox="1"/>
          <p:nvPr/>
        </p:nvSpPr>
        <p:spPr>
          <a:xfrm>
            <a:off x="6558348" y="4858240"/>
            <a:ext cx="859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3BB609-3EAD-420B-9F9F-BFA5AE737F5A}"/>
              </a:ext>
            </a:extLst>
          </p:cNvPr>
          <p:cNvSpPr txBox="1"/>
          <p:nvPr/>
        </p:nvSpPr>
        <p:spPr>
          <a:xfrm>
            <a:off x="7941314" y="5114147"/>
            <a:ext cx="3797413" cy="918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hu-HU" sz="1600" spc="0" baseline="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A zene-streaming</a:t>
            </a:r>
            <a:r>
              <a:rPr lang="hu-HU" sz="1600" spc="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piacon erős a verseny, a nagy szereplők gyorsan reagálnak az új belépőkre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anose="02000505000000020004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EE56E7-5C23-4727-9E06-F94A78B7C19C}"/>
              </a:ext>
            </a:extLst>
          </p:cNvPr>
          <p:cNvSpPr txBox="1"/>
          <p:nvPr/>
        </p:nvSpPr>
        <p:spPr>
          <a:xfrm>
            <a:off x="7941314" y="4796617"/>
            <a:ext cx="192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Fenyegetések</a:t>
            </a:r>
            <a:endParaRPr lang="en-US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Montserrat ExtraBold" panose="00000900000000000000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F3775B7-5865-4356-8C89-4E71A2409E33}"/>
              </a:ext>
            </a:extLst>
          </p:cNvPr>
          <p:cNvSpPr/>
          <p:nvPr/>
        </p:nvSpPr>
        <p:spPr>
          <a:xfrm rot="5400000">
            <a:off x="5683494" y="710748"/>
            <a:ext cx="825012" cy="11469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13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333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3333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decel="5333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53333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decel="53333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53333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400"/>
                            </p:stCondLst>
                            <p:childTnLst>
                              <p:par>
                                <p:cTn id="43" presetID="2" presetClass="entr" presetSubtype="4" decel="5333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decel="5333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53333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800"/>
                            </p:stCondLst>
                            <p:childTnLst>
                              <p:par>
                                <p:cTn id="59" presetID="2" presetClass="entr" presetSubtype="4" decel="5333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decel="5333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decel="53333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200"/>
                            </p:stCondLst>
                            <p:childTnLst>
                              <p:par>
                                <p:cTn id="75" presetID="2" presetClass="entr" presetSubtype="4" decel="5333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decel="5333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decel="53333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2" grpId="0"/>
      <p:bldP spid="81" grpId="0" animBg="1"/>
      <p:bldP spid="93" grpId="0" animBg="1"/>
      <p:bldP spid="94" grpId="0"/>
      <p:bldP spid="36" grpId="0"/>
      <p:bldP spid="39" grpId="0"/>
      <p:bldP spid="40" grpId="0"/>
      <p:bldP spid="27" grpId="0"/>
      <p:bldP spid="28" grpId="0"/>
      <p:bldP spid="99" grpId="0"/>
      <p:bldP spid="95" grpId="0"/>
      <p:bldP spid="96" grpId="0"/>
      <p:bldP spid="97" grpId="0" animBg="1"/>
      <p:bldP spid="98" grpId="0" animBg="1"/>
      <p:bldP spid="85" grpId="0" animBg="1"/>
      <p:bldP spid="89" grpId="0" animBg="1"/>
      <p:bldP spid="25" grpId="0"/>
      <p:bldP spid="37" grpId="0"/>
      <p:bldP spid="42" grpId="0"/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9F701E-25F9-B7DD-80F2-0D1881D2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Gantt</a:t>
            </a:r>
            <a:r>
              <a:rPr lang="hu-HU" dirty="0"/>
              <a:t> diagram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F4C608AC-6F66-3610-3B61-0811CC976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08" y="2818561"/>
            <a:ext cx="11623183" cy="258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3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1AF4E2-2100-82AE-9FA3-FDF19E50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Wireframe</a:t>
            </a:r>
            <a:endParaRPr lang="hu-HU" dirty="0"/>
          </a:p>
        </p:txBody>
      </p:sp>
      <p:pic>
        <p:nvPicPr>
          <p:cNvPr id="4" name="Kép 3" descr="A képen szöveg, diagram, Műszaki rajz, Téglala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71290BD-38F9-5D55-FB28-FFDE901B6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877" y="2011680"/>
            <a:ext cx="8852603" cy="453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722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162</Words>
  <Application>Microsoft Office PowerPoint</Application>
  <PresentationFormat>Szélesvásznú</PresentationFormat>
  <Paragraphs>30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1" baseType="lpstr">
      <vt:lpstr>Arial</vt:lpstr>
      <vt:lpstr>Grandview Display</vt:lpstr>
      <vt:lpstr>Montserrat</vt:lpstr>
      <vt:lpstr>Montserrat ExtraBold</vt:lpstr>
      <vt:lpstr>DashVTI</vt:lpstr>
      <vt:lpstr>MyTunes – zene streaming</vt:lpstr>
      <vt:lpstr>Projekt célja</vt:lpstr>
      <vt:lpstr>Projekt készítői</vt:lpstr>
      <vt:lpstr>PowerPoint-bemutató</vt:lpstr>
      <vt:lpstr>Gantt diagram</vt:lpstr>
      <vt:lpstr>Wireframe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9</cp:revision>
  <dcterms:created xsi:type="dcterms:W3CDTF">2025-11-16T16:41:49Z</dcterms:created>
  <dcterms:modified xsi:type="dcterms:W3CDTF">2025-11-22T16:44:20Z</dcterms:modified>
</cp:coreProperties>
</file>