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3" r:id="rId1"/>
  </p:sldMasterIdLst>
  <p:sldIdLst>
    <p:sldId id="256" r:id="rId2"/>
    <p:sldId id="257" r:id="rId3"/>
    <p:sldId id="258" r:id="rId4"/>
    <p:sldId id="549" r:id="rId5"/>
    <p:sldId id="259" r:id="rId6"/>
    <p:sldId id="550" r:id="rId7"/>
    <p:sldId id="551" r:id="rId8"/>
    <p:sldId id="552" r:id="rId9"/>
    <p:sldId id="553" r:id="rId10"/>
    <p:sldId id="554" r:id="rId11"/>
    <p:sldId id="555" r:id="rId12"/>
  </p:sldIdLst>
  <p:sldSz cx="12192000" cy="6858000"/>
  <p:notesSz cx="6858000" cy="9144000"/>
  <p:defaultTextStyle>
    <a:defPPr>
      <a:defRPr lang="hu-H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F40FF"/>
    <a:srgbClr val="00FFFF"/>
    <a:srgbClr val="40BFFF"/>
    <a:srgbClr val="8080FF"/>
    <a:srgbClr val="FF00FF"/>
    <a:srgbClr val="5D28F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8" d="100"/>
          <a:sy n="148" d="100"/>
        </p:scale>
        <p:origin x="738"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12/11/2025</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30156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a:xfrm>
            <a:off x="1959329" y="1300226"/>
            <a:ext cx="7087135" cy="711454"/>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12/11/2025</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799979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12/11/2025</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34406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12/11/2025</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3628336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12/11/2025</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005636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12/11/2025</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1721178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12/11/2025</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3417185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12/11/2025</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3729516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12/11/2025</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7175739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12/11/2025</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8275832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12/11/2025</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12582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sv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3AA8B377-B0E9-849D-95CE-02D0328284EF}"/>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rot="5400000">
            <a:off x="1120774" y="-4422774"/>
            <a:ext cx="9531351" cy="1451610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1831313" y="1022671"/>
            <a:ext cx="7087135" cy="109728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12/11/2025</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8" name="Ábra 7">
            <a:extLst>
              <a:ext uri="{FF2B5EF4-FFF2-40B4-BE49-F238E27FC236}">
                <a16:creationId xmlns:a16="http://schemas.microsoft.com/office/drawing/2014/main" id="{6CC3765A-F44C-887C-A348-AAB31C7F63CE}"/>
              </a:ext>
            </a:extLst>
          </p:cNvPr>
          <p:cNvPicPr>
            <a:picLocks noChangeAspect="1"/>
          </p:cNvPicPr>
          <p:nvPr userDrawn="1"/>
        </p:nvPicPr>
        <p:blipFill>
          <a:blip r:embed="rId14">
            <a:extLst>
              <a:ext uri="{96DAC541-7B7A-43D3-8B79-37D633B846F1}">
                <asvg:svgBlip xmlns:asvg="http://schemas.microsoft.com/office/drawing/2016/SVG/main" r:embed="rId15"/>
              </a:ext>
            </a:extLst>
          </a:blip>
          <a:stretch>
            <a:fillRect/>
          </a:stretch>
        </p:blipFill>
        <p:spPr>
          <a:xfrm>
            <a:off x="574013" y="1022671"/>
            <a:ext cx="1257300" cy="1257300"/>
          </a:xfrm>
          <a:prstGeom prst="rect">
            <a:avLst/>
          </a:prstGeom>
        </p:spPr>
      </p:pic>
    </p:spTree>
    <p:extLst>
      <p:ext uri="{BB962C8B-B14F-4D97-AF65-F5344CB8AC3E}">
        <p14:creationId xmlns:p14="http://schemas.microsoft.com/office/powerpoint/2010/main" val="2028466019"/>
      </p:ext>
    </p:extLst>
  </p:cSld>
  <p:clrMap bg1="lt1" tx1="dk1" bg2="lt2" tx2="dk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2" r:id="rId5"/>
    <p:sldLayoutId id="2147483766" r:id="rId6"/>
    <p:sldLayoutId id="2147483762" r:id="rId7"/>
    <p:sldLayoutId id="2147483763" r:id="rId8"/>
    <p:sldLayoutId id="2147483764" r:id="rId9"/>
    <p:sldLayoutId id="2147483765" r:id="rId10"/>
    <p:sldLayoutId id="2147483767"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3.sv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1" name="Rectangle 1040">
            <a:extLst>
              <a:ext uri="{FF2B5EF4-FFF2-40B4-BE49-F238E27FC236}">
                <a16:creationId xmlns:a16="http://schemas.microsoft.com/office/drawing/2014/main" id="{CFD1D2CD-954D-4C4D-B505-05EAD159B2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ím 1">
            <a:extLst>
              <a:ext uri="{FF2B5EF4-FFF2-40B4-BE49-F238E27FC236}">
                <a16:creationId xmlns:a16="http://schemas.microsoft.com/office/drawing/2014/main" id="{6E268AEE-6A3F-31E6-0D87-3F8ECBA8B673}"/>
              </a:ext>
            </a:extLst>
          </p:cNvPr>
          <p:cNvSpPr>
            <a:spLocks noGrp="1"/>
          </p:cNvSpPr>
          <p:nvPr>
            <p:ph type="ctrTitle"/>
          </p:nvPr>
        </p:nvSpPr>
        <p:spPr>
          <a:xfrm>
            <a:off x="640080" y="1371600"/>
            <a:ext cx="4670661" cy="3030842"/>
          </a:xfrm>
        </p:spPr>
        <p:txBody>
          <a:bodyPr>
            <a:normAutofit/>
          </a:bodyPr>
          <a:lstStyle/>
          <a:p>
            <a:r>
              <a:rPr lang="hu-HU" dirty="0" err="1">
                <a:latin typeface="Montserrat" panose="00000500000000000000" pitchFamily="2" charset="-18"/>
              </a:rPr>
              <a:t>MyTunes</a:t>
            </a:r>
            <a:r>
              <a:rPr lang="hu-HU" dirty="0">
                <a:latin typeface="Montserrat" panose="00000500000000000000" pitchFamily="2" charset="-18"/>
              </a:rPr>
              <a:t> – zene streaming</a:t>
            </a:r>
          </a:p>
        </p:txBody>
      </p:sp>
      <p:sp>
        <p:nvSpPr>
          <p:cNvPr id="3" name="Alcím 2">
            <a:extLst>
              <a:ext uri="{FF2B5EF4-FFF2-40B4-BE49-F238E27FC236}">
                <a16:creationId xmlns:a16="http://schemas.microsoft.com/office/drawing/2014/main" id="{7BFF1854-A625-5790-D9B8-F98345F02E7C}"/>
              </a:ext>
            </a:extLst>
          </p:cNvPr>
          <p:cNvSpPr>
            <a:spLocks noGrp="1"/>
          </p:cNvSpPr>
          <p:nvPr>
            <p:ph type="subTitle" idx="1"/>
          </p:nvPr>
        </p:nvSpPr>
        <p:spPr>
          <a:xfrm>
            <a:off x="640080" y="4584879"/>
            <a:ext cx="3635706" cy="1287887"/>
          </a:xfrm>
        </p:spPr>
        <p:txBody>
          <a:bodyPr>
            <a:normAutofit/>
          </a:bodyPr>
          <a:lstStyle/>
          <a:p>
            <a:r>
              <a:rPr lang="hu-HU" dirty="0">
                <a:latin typeface="Montserrat" panose="00000500000000000000" pitchFamily="2" charset="-18"/>
              </a:rPr>
              <a:t>Készítette: </a:t>
            </a:r>
          </a:p>
          <a:p>
            <a:r>
              <a:rPr lang="hu-HU" dirty="0">
                <a:latin typeface="Montserrat" panose="00000500000000000000" pitchFamily="2" charset="-18"/>
              </a:rPr>
              <a:t>Nagy Ákos Attila és Bernáth Ábel</a:t>
            </a:r>
          </a:p>
        </p:txBody>
      </p:sp>
      <p:cxnSp>
        <p:nvCxnSpPr>
          <p:cNvPr id="1043" name="Straight Connector 1042">
            <a:extLst>
              <a:ext uri="{FF2B5EF4-FFF2-40B4-BE49-F238E27FC236}">
                <a16:creationId xmlns:a16="http://schemas.microsoft.com/office/drawing/2014/main" id="{D132AEA7-A24A-45A9-BF8F-D0AFF34DF6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05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1027" name="Picture 3">
            <a:extLst>
              <a:ext uri="{FF2B5EF4-FFF2-40B4-BE49-F238E27FC236}">
                <a16:creationId xmlns:a16="http://schemas.microsoft.com/office/drawing/2014/main" id="{5854CFBB-69F2-3D8A-87BC-E19F2F1F93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4530" r="1" b="1"/>
          <a:stretch>
            <a:fillRect/>
          </a:stretch>
        </p:blipFill>
        <p:spPr bwMode="auto">
          <a:xfrm>
            <a:off x="6515100" y="10"/>
            <a:ext cx="5676900" cy="6857990"/>
          </a:xfrm>
          <a:prstGeom prst="rect">
            <a:avLst/>
          </a:prstGeom>
          <a:noFill/>
          <a:extLst>
            <a:ext uri="{909E8E84-426E-40DD-AFC4-6F175D3DCCD1}">
              <a14:hiddenFill xmlns:a14="http://schemas.microsoft.com/office/drawing/2010/main">
                <a:solidFill>
                  <a:srgbClr val="FFFFFF"/>
                </a:solidFill>
              </a14:hiddenFill>
            </a:ext>
          </a:extLst>
        </p:spPr>
      </p:pic>
      <p:pic>
        <p:nvPicPr>
          <p:cNvPr id="7" name="Ábra 6">
            <a:extLst>
              <a:ext uri="{FF2B5EF4-FFF2-40B4-BE49-F238E27FC236}">
                <a16:creationId xmlns:a16="http://schemas.microsoft.com/office/drawing/2014/main" id="{DFFC11B7-F30A-0E62-48E8-932B195E2BC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59133" y="742526"/>
            <a:ext cx="5372947" cy="5372947"/>
          </a:xfrm>
          <a:prstGeom prst="rect">
            <a:avLst/>
          </a:prstGeom>
        </p:spPr>
      </p:pic>
    </p:spTree>
    <p:extLst>
      <p:ext uri="{BB962C8B-B14F-4D97-AF65-F5344CB8AC3E}">
        <p14:creationId xmlns:p14="http://schemas.microsoft.com/office/powerpoint/2010/main" val="551743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0" nodeType="withEffect">
                                  <p:stCondLst>
                                    <p:cond delay="1500"/>
                                  </p:stCondLst>
                                  <p:iterate>
                                    <p:tmPct val="10000"/>
                                  </p:iterate>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20BE8F1F-1719-9771-4F55-6AAE19C28FFC}"/>
              </a:ext>
            </a:extLst>
          </p:cNvPr>
          <p:cNvSpPr>
            <a:spLocks noGrp="1"/>
          </p:cNvSpPr>
          <p:nvPr>
            <p:ph type="title"/>
          </p:nvPr>
        </p:nvSpPr>
        <p:spPr/>
        <p:txBody>
          <a:bodyPr/>
          <a:lstStyle/>
          <a:p>
            <a:r>
              <a:rPr lang="hu-HU" dirty="0">
                <a:latin typeface="Montserrat" panose="00000500000000000000" pitchFamily="2" charset="-18"/>
              </a:rPr>
              <a:t>Projekt célja</a:t>
            </a:r>
          </a:p>
        </p:txBody>
      </p:sp>
      <p:sp>
        <p:nvSpPr>
          <p:cNvPr id="3" name="Tartalom helye 2">
            <a:extLst>
              <a:ext uri="{FF2B5EF4-FFF2-40B4-BE49-F238E27FC236}">
                <a16:creationId xmlns:a16="http://schemas.microsoft.com/office/drawing/2014/main" id="{875D41E2-D23B-D661-B4DB-4D2EC58DF722}"/>
              </a:ext>
            </a:extLst>
          </p:cNvPr>
          <p:cNvSpPr>
            <a:spLocks noGrp="1"/>
          </p:cNvSpPr>
          <p:nvPr>
            <p:ph idx="1"/>
          </p:nvPr>
        </p:nvSpPr>
        <p:spPr/>
        <p:txBody>
          <a:bodyPr/>
          <a:lstStyle/>
          <a:p>
            <a:r>
              <a:rPr lang="hu-HU" dirty="0">
                <a:latin typeface="Montserrat" panose="00000500000000000000" pitchFamily="2" charset="-18"/>
              </a:rPr>
              <a:t>Zene streaming alkalmazás létrehozása</a:t>
            </a:r>
          </a:p>
          <a:p>
            <a:r>
              <a:rPr lang="hu-HU" dirty="0">
                <a:latin typeface="Montserrat" panose="00000500000000000000" pitchFamily="2" charset="-18"/>
              </a:rPr>
              <a:t>Web, asztali és mobil platformokra</a:t>
            </a:r>
          </a:p>
          <a:p>
            <a:r>
              <a:rPr lang="hu-HU" dirty="0">
                <a:latin typeface="Montserrat" panose="00000500000000000000" pitchFamily="2" charset="-18"/>
              </a:rPr>
              <a:t>Ingyenes felhasználói modell</a:t>
            </a:r>
          </a:p>
        </p:txBody>
      </p:sp>
    </p:spTree>
    <p:extLst>
      <p:ext uri="{BB962C8B-B14F-4D97-AF65-F5344CB8AC3E}">
        <p14:creationId xmlns:p14="http://schemas.microsoft.com/office/powerpoint/2010/main" val="8989148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DFE7E995-28CE-539D-9F15-61D364B198C3}"/>
              </a:ext>
            </a:extLst>
          </p:cNvPr>
          <p:cNvSpPr>
            <a:spLocks noGrp="1"/>
          </p:cNvSpPr>
          <p:nvPr>
            <p:ph type="title"/>
          </p:nvPr>
        </p:nvSpPr>
        <p:spPr/>
        <p:txBody>
          <a:bodyPr/>
          <a:lstStyle/>
          <a:p>
            <a:r>
              <a:rPr lang="hu-HU" dirty="0">
                <a:latin typeface="Montserrat" panose="00000500000000000000" pitchFamily="2" charset="-18"/>
              </a:rPr>
              <a:t>Projekt készítői</a:t>
            </a:r>
          </a:p>
        </p:txBody>
      </p:sp>
      <p:sp>
        <p:nvSpPr>
          <p:cNvPr id="3" name="Tartalom helye 2">
            <a:extLst>
              <a:ext uri="{FF2B5EF4-FFF2-40B4-BE49-F238E27FC236}">
                <a16:creationId xmlns:a16="http://schemas.microsoft.com/office/drawing/2014/main" id="{ED8D0D22-0D25-D8AB-F464-4FF953920BBF}"/>
              </a:ext>
            </a:extLst>
          </p:cNvPr>
          <p:cNvSpPr>
            <a:spLocks noGrp="1"/>
          </p:cNvSpPr>
          <p:nvPr>
            <p:ph idx="1"/>
          </p:nvPr>
        </p:nvSpPr>
        <p:spPr>
          <a:xfrm>
            <a:off x="640080" y="2633472"/>
            <a:ext cx="10480827" cy="3566160"/>
          </a:xfrm>
        </p:spPr>
        <p:txBody>
          <a:bodyPr/>
          <a:lstStyle/>
          <a:p>
            <a:r>
              <a:rPr lang="hu-HU" dirty="0">
                <a:latin typeface="Montserrat" panose="00000500000000000000" pitchFamily="2" charset="-18"/>
              </a:rPr>
              <a:t>Bernáth Ábel (beosztás, feladatok)</a:t>
            </a:r>
          </a:p>
          <a:p>
            <a:endParaRPr lang="hu-HU" dirty="0"/>
          </a:p>
          <a:p>
            <a:endParaRPr lang="hu-HU" dirty="0"/>
          </a:p>
          <a:p>
            <a:endParaRPr lang="hu-HU" dirty="0"/>
          </a:p>
          <a:p>
            <a:endParaRPr lang="hu-HU" dirty="0"/>
          </a:p>
          <a:p>
            <a:r>
              <a:rPr lang="hu-HU" dirty="0">
                <a:latin typeface="Montserrat" panose="00000500000000000000" pitchFamily="2" charset="-18"/>
              </a:rPr>
              <a:t>Nagy Ákos (-”-)</a:t>
            </a:r>
          </a:p>
        </p:txBody>
      </p:sp>
      <p:sp>
        <p:nvSpPr>
          <p:cNvPr id="7" name="Folyamatábra: Bekötés 6">
            <a:extLst>
              <a:ext uri="{FF2B5EF4-FFF2-40B4-BE49-F238E27FC236}">
                <a16:creationId xmlns:a16="http://schemas.microsoft.com/office/drawing/2014/main" id="{203D621B-A310-AAF6-F1D2-56EE41B1C99B}"/>
              </a:ext>
            </a:extLst>
          </p:cNvPr>
          <p:cNvSpPr/>
          <p:nvPr/>
        </p:nvSpPr>
        <p:spPr>
          <a:xfrm>
            <a:off x="7845509" y="1670262"/>
            <a:ext cx="2401909" cy="2401909"/>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
        <p:nvSpPr>
          <p:cNvPr id="8" name="Folyamatábra: Bekötés 7">
            <a:extLst>
              <a:ext uri="{FF2B5EF4-FFF2-40B4-BE49-F238E27FC236}">
                <a16:creationId xmlns:a16="http://schemas.microsoft.com/office/drawing/2014/main" id="{711D1612-9D87-B650-718B-4311B016CD26}"/>
              </a:ext>
            </a:extLst>
          </p:cNvPr>
          <p:cNvSpPr/>
          <p:nvPr/>
        </p:nvSpPr>
        <p:spPr>
          <a:xfrm>
            <a:off x="7845509" y="4295406"/>
            <a:ext cx="2401909" cy="2401909"/>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Tree>
    <p:extLst>
      <p:ext uri="{BB962C8B-B14F-4D97-AF65-F5344CB8AC3E}">
        <p14:creationId xmlns:p14="http://schemas.microsoft.com/office/powerpoint/2010/main" val="42755731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Box 90">
            <a:extLst>
              <a:ext uri="{FF2B5EF4-FFF2-40B4-BE49-F238E27FC236}">
                <a16:creationId xmlns:a16="http://schemas.microsoft.com/office/drawing/2014/main" id="{900E9161-FC3A-4C7A-BDE0-321383B3F6BF}"/>
              </a:ext>
            </a:extLst>
          </p:cNvPr>
          <p:cNvSpPr txBox="1"/>
          <p:nvPr/>
        </p:nvSpPr>
        <p:spPr>
          <a:xfrm>
            <a:off x="2307054" y="3781981"/>
            <a:ext cx="3797413" cy="918841"/>
          </a:xfrm>
          <a:prstGeom prst="rect">
            <a:avLst/>
          </a:prstGeom>
          <a:noFill/>
        </p:spPr>
        <p:txBody>
          <a:bodyPr wrap="square" rtlCol="0">
            <a:spAutoFit/>
          </a:bodyPr>
          <a:lstStyle/>
          <a:p>
            <a:pPr>
              <a:lnSpc>
                <a:spcPts val="2200"/>
              </a:lnSpc>
            </a:pPr>
            <a:r>
              <a:rPr lang="hu-HU" sz="1600" dirty="0">
                <a:solidFill>
                  <a:schemeClr val="bg2">
                    <a:lumMod val="25000"/>
                  </a:schemeClr>
                </a:solidFill>
                <a:latin typeface="Montserrat" panose="02000505000000020004" pitchFamily="2" charset="0"/>
                <a:cs typeface="Poppins"/>
                <a:sym typeface="Poppins"/>
                <a:rtl val="0"/>
              </a:rPr>
              <a:t>Számottevő</a:t>
            </a:r>
            <a:r>
              <a:rPr lang="en-US" sz="1600" dirty="0">
                <a:solidFill>
                  <a:schemeClr val="bg2">
                    <a:lumMod val="25000"/>
                  </a:schemeClr>
                </a:solidFill>
                <a:latin typeface="Montserrat" panose="02000505000000020004" pitchFamily="2" charset="0"/>
                <a:cs typeface="Poppins"/>
                <a:sym typeface="Poppins"/>
                <a:rtl val="0"/>
              </a:rPr>
              <a:t> </a:t>
            </a:r>
            <a:r>
              <a:rPr lang="en-US" sz="1600" dirty="0" err="1">
                <a:solidFill>
                  <a:schemeClr val="bg2">
                    <a:lumMod val="25000"/>
                  </a:schemeClr>
                </a:solidFill>
                <a:latin typeface="Montserrat" panose="02000505000000020004" pitchFamily="2" charset="0"/>
                <a:cs typeface="Poppins"/>
                <a:sym typeface="Poppins"/>
                <a:rtl val="0"/>
              </a:rPr>
              <a:t>tapasztalat</a:t>
            </a:r>
            <a:r>
              <a:rPr lang="hu-HU" sz="1600" dirty="0" err="1">
                <a:solidFill>
                  <a:schemeClr val="bg2">
                    <a:lumMod val="25000"/>
                  </a:schemeClr>
                </a:solidFill>
                <a:latin typeface="Montserrat" panose="02000505000000020004" pitchFamily="2" charset="0"/>
                <a:cs typeface="Poppins"/>
                <a:sym typeface="Poppins"/>
                <a:rtl val="0"/>
              </a:rPr>
              <a:t>unk</a:t>
            </a:r>
            <a:r>
              <a:rPr lang="hu-HU" sz="1600" dirty="0">
                <a:solidFill>
                  <a:schemeClr val="bg2">
                    <a:lumMod val="25000"/>
                  </a:schemeClr>
                </a:solidFill>
                <a:latin typeface="Montserrat" panose="02000505000000020004" pitchFamily="2" charset="0"/>
                <a:cs typeface="Poppins"/>
                <a:sym typeface="Poppins"/>
                <a:rtl val="0"/>
              </a:rPr>
              <a:t> van</a:t>
            </a:r>
            <a:r>
              <a:rPr lang="en-US" sz="1600" dirty="0">
                <a:solidFill>
                  <a:schemeClr val="bg2">
                    <a:lumMod val="25000"/>
                  </a:schemeClr>
                </a:solidFill>
                <a:latin typeface="Montserrat" panose="02000505000000020004" pitchFamily="2" charset="0"/>
                <a:cs typeface="Poppins"/>
                <a:sym typeface="Poppins"/>
                <a:rtl val="0"/>
              </a:rPr>
              <a:t> </a:t>
            </a:r>
            <a:r>
              <a:rPr lang="en-US" sz="1600" dirty="0" err="1">
                <a:solidFill>
                  <a:schemeClr val="bg2">
                    <a:lumMod val="25000"/>
                  </a:schemeClr>
                </a:solidFill>
                <a:latin typeface="Montserrat" panose="02000505000000020004" pitchFamily="2" charset="0"/>
                <a:cs typeface="Poppins"/>
                <a:sym typeface="Poppins"/>
                <a:rtl val="0"/>
              </a:rPr>
              <a:t>webes</a:t>
            </a:r>
            <a:r>
              <a:rPr lang="en-US" sz="1600" dirty="0">
                <a:solidFill>
                  <a:schemeClr val="bg2">
                    <a:lumMod val="25000"/>
                  </a:schemeClr>
                </a:solidFill>
                <a:latin typeface="Montserrat" panose="02000505000000020004" pitchFamily="2" charset="0"/>
                <a:cs typeface="Poppins"/>
                <a:sym typeface="Poppins"/>
                <a:rtl val="0"/>
              </a:rPr>
              <a:t> </a:t>
            </a:r>
            <a:r>
              <a:rPr lang="en-US" sz="1600" dirty="0" err="1">
                <a:solidFill>
                  <a:schemeClr val="bg2">
                    <a:lumMod val="25000"/>
                  </a:schemeClr>
                </a:solidFill>
                <a:latin typeface="Montserrat" panose="02000505000000020004" pitchFamily="2" charset="0"/>
                <a:cs typeface="Poppins"/>
                <a:sym typeface="Poppins"/>
                <a:rtl val="0"/>
              </a:rPr>
              <a:t>és</a:t>
            </a:r>
            <a:r>
              <a:rPr lang="en-US" sz="1600" dirty="0">
                <a:solidFill>
                  <a:schemeClr val="bg2">
                    <a:lumMod val="25000"/>
                  </a:schemeClr>
                </a:solidFill>
                <a:latin typeface="Montserrat" panose="02000505000000020004" pitchFamily="2" charset="0"/>
                <a:cs typeface="Poppins"/>
                <a:sym typeface="Poppins"/>
                <a:rtl val="0"/>
              </a:rPr>
              <a:t> </a:t>
            </a:r>
            <a:r>
              <a:rPr lang="en-US" sz="1600" dirty="0" err="1">
                <a:solidFill>
                  <a:schemeClr val="bg2">
                    <a:lumMod val="25000"/>
                  </a:schemeClr>
                </a:solidFill>
                <a:latin typeface="Montserrat" panose="02000505000000020004" pitchFamily="2" charset="0"/>
                <a:cs typeface="Poppins"/>
                <a:sym typeface="Poppins"/>
                <a:rtl val="0"/>
              </a:rPr>
              <a:t>asztali</a:t>
            </a:r>
            <a:r>
              <a:rPr lang="en-US" sz="1600" dirty="0">
                <a:solidFill>
                  <a:schemeClr val="bg2">
                    <a:lumMod val="25000"/>
                  </a:schemeClr>
                </a:solidFill>
                <a:latin typeface="Montserrat" panose="02000505000000020004" pitchFamily="2" charset="0"/>
                <a:cs typeface="Poppins"/>
                <a:sym typeface="Poppins"/>
                <a:rtl val="0"/>
              </a:rPr>
              <a:t> </a:t>
            </a:r>
            <a:r>
              <a:rPr lang="en-US" sz="1600" dirty="0" err="1">
                <a:solidFill>
                  <a:schemeClr val="bg2">
                    <a:lumMod val="25000"/>
                  </a:schemeClr>
                </a:solidFill>
                <a:latin typeface="Montserrat" panose="02000505000000020004" pitchFamily="2" charset="0"/>
                <a:cs typeface="Poppins"/>
                <a:sym typeface="Poppins"/>
                <a:rtl val="0"/>
              </a:rPr>
              <a:t>alkalmazások</a:t>
            </a:r>
            <a:r>
              <a:rPr lang="en-US" sz="1600" dirty="0">
                <a:solidFill>
                  <a:schemeClr val="bg2">
                    <a:lumMod val="25000"/>
                  </a:schemeClr>
                </a:solidFill>
                <a:latin typeface="Montserrat" panose="02000505000000020004" pitchFamily="2" charset="0"/>
                <a:cs typeface="Poppins"/>
                <a:sym typeface="Poppins"/>
                <a:rtl val="0"/>
              </a:rPr>
              <a:t> </a:t>
            </a:r>
            <a:r>
              <a:rPr lang="en-US" sz="1600" dirty="0" err="1">
                <a:solidFill>
                  <a:schemeClr val="bg2">
                    <a:lumMod val="25000"/>
                  </a:schemeClr>
                </a:solidFill>
                <a:latin typeface="Montserrat" panose="02000505000000020004" pitchFamily="2" charset="0"/>
                <a:cs typeface="Poppins"/>
                <a:sym typeface="Poppins"/>
                <a:rtl val="0"/>
              </a:rPr>
              <a:t>fejlesztésében</a:t>
            </a:r>
            <a:r>
              <a:rPr lang="en-US" sz="1600" dirty="0">
                <a:solidFill>
                  <a:schemeClr val="bg2">
                    <a:lumMod val="25000"/>
                  </a:schemeClr>
                </a:solidFill>
                <a:latin typeface="Montserrat" panose="02000505000000020004" pitchFamily="2" charset="0"/>
                <a:cs typeface="Poppins"/>
                <a:sym typeface="Poppins"/>
                <a:rtl val="0"/>
              </a:rPr>
              <a:t>,</a:t>
            </a:r>
            <a:endParaRPr lang="en-US" sz="1400" dirty="0">
              <a:solidFill>
                <a:schemeClr val="bg2">
                  <a:lumMod val="25000"/>
                </a:schemeClr>
              </a:solidFill>
              <a:latin typeface="Montserrat" panose="02000505000000020004" pitchFamily="2" charset="0"/>
              <a:cs typeface="Poppins"/>
              <a:sym typeface="Poppins"/>
              <a:rtl val="0"/>
            </a:endParaRPr>
          </a:p>
        </p:txBody>
      </p:sp>
      <p:sp>
        <p:nvSpPr>
          <p:cNvPr id="92" name="TextBox 91">
            <a:extLst>
              <a:ext uri="{FF2B5EF4-FFF2-40B4-BE49-F238E27FC236}">
                <a16:creationId xmlns:a16="http://schemas.microsoft.com/office/drawing/2014/main" id="{960BBC15-5E2C-489F-8995-8D7ECA5EE310}"/>
              </a:ext>
            </a:extLst>
          </p:cNvPr>
          <p:cNvSpPr txBox="1"/>
          <p:nvPr/>
        </p:nvSpPr>
        <p:spPr>
          <a:xfrm>
            <a:off x="2307054" y="3464451"/>
            <a:ext cx="1467068" cy="369332"/>
          </a:xfrm>
          <a:prstGeom prst="rect">
            <a:avLst/>
          </a:prstGeom>
          <a:noFill/>
        </p:spPr>
        <p:txBody>
          <a:bodyPr wrap="none" rtlCol="0">
            <a:spAutoFit/>
          </a:bodyPr>
          <a:lstStyle/>
          <a:p>
            <a:r>
              <a:rPr lang="hu-HU" dirty="0">
                <a:gradFill>
                  <a:gsLst>
                    <a:gs pos="0">
                      <a:srgbClr val="5D28FE"/>
                    </a:gs>
                    <a:gs pos="100000">
                      <a:srgbClr val="BB66DD"/>
                    </a:gs>
                  </a:gsLst>
                  <a:lin ang="10800000" scaled="1"/>
                </a:gradFill>
                <a:latin typeface="Montserrat ExtraBold" panose="00000900000000000000" pitchFamily="2" charset="0"/>
                <a:cs typeface="Poppins"/>
                <a:sym typeface="Poppins"/>
                <a:rtl val="0"/>
              </a:rPr>
              <a:t>Erősségek</a:t>
            </a:r>
            <a:endParaRPr lang="en-US" dirty="0">
              <a:gradFill>
                <a:gsLst>
                  <a:gs pos="0">
                    <a:srgbClr val="5D28FE"/>
                  </a:gs>
                  <a:gs pos="100000">
                    <a:srgbClr val="BB66DD"/>
                  </a:gs>
                </a:gsLst>
                <a:lin ang="10800000" scaled="1"/>
              </a:gradFill>
              <a:latin typeface="Montserrat ExtraBold" panose="00000900000000000000" pitchFamily="2" charset="0"/>
              <a:cs typeface="Poppins"/>
              <a:sym typeface="Poppins"/>
              <a:rtl val="0"/>
            </a:endParaRPr>
          </a:p>
        </p:txBody>
      </p:sp>
      <p:sp>
        <p:nvSpPr>
          <p:cNvPr id="81" name="Freeform: Shape 80">
            <a:extLst>
              <a:ext uri="{FF2B5EF4-FFF2-40B4-BE49-F238E27FC236}">
                <a16:creationId xmlns:a16="http://schemas.microsoft.com/office/drawing/2014/main" id="{9FEE7E67-7ADE-4E67-BEC8-32167C43CB64}"/>
              </a:ext>
            </a:extLst>
          </p:cNvPr>
          <p:cNvSpPr/>
          <p:nvPr/>
        </p:nvSpPr>
        <p:spPr>
          <a:xfrm>
            <a:off x="6322028" y="3275489"/>
            <a:ext cx="1332166" cy="1332166"/>
          </a:xfrm>
          <a:custGeom>
            <a:avLst/>
            <a:gdLst>
              <a:gd name="connsiteX0" fmla="*/ 0 w 1332166"/>
              <a:gd name="connsiteY0" fmla="*/ 0 h 1332166"/>
              <a:gd name="connsiteX1" fmla="*/ 1332166 w 1332166"/>
              <a:gd name="connsiteY1" fmla="*/ 0 h 1332166"/>
              <a:gd name="connsiteX2" fmla="*/ 1332166 w 1332166"/>
              <a:gd name="connsiteY2" fmla="*/ 1332167 h 1332166"/>
              <a:gd name="connsiteX3" fmla="*/ 0 w 1332166"/>
              <a:gd name="connsiteY3" fmla="*/ 1332167 h 1332166"/>
            </a:gdLst>
            <a:ahLst/>
            <a:cxnLst>
              <a:cxn ang="0">
                <a:pos x="connsiteX0" y="connsiteY0"/>
              </a:cxn>
              <a:cxn ang="0">
                <a:pos x="connsiteX1" y="connsiteY1"/>
              </a:cxn>
              <a:cxn ang="0">
                <a:pos x="connsiteX2" y="connsiteY2"/>
              </a:cxn>
              <a:cxn ang="0">
                <a:pos x="connsiteX3" y="connsiteY3"/>
              </a:cxn>
            </a:cxnLst>
            <a:rect l="l" t="t" r="r" b="b"/>
            <a:pathLst>
              <a:path w="1332166" h="1332166">
                <a:moveTo>
                  <a:pt x="0" y="0"/>
                </a:moveTo>
                <a:lnTo>
                  <a:pt x="1332166" y="0"/>
                </a:lnTo>
                <a:lnTo>
                  <a:pt x="1332166" y="1332167"/>
                </a:lnTo>
                <a:lnTo>
                  <a:pt x="0" y="1332167"/>
                </a:lnTo>
                <a:close/>
              </a:path>
            </a:pathLst>
          </a:custGeom>
          <a:solidFill>
            <a:schemeClr val="bg2">
              <a:lumMod val="25000"/>
            </a:schemeClr>
          </a:solidFill>
          <a:ln w="9525" cap="flat">
            <a:noFill/>
            <a:prstDash val="solid"/>
            <a:miter/>
          </a:ln>
        </p:spPr>
        <p:txBody>
          <a:bodyPr rtlCol="0" anchor="ctr"/>
          <a:lstStyle/>
          <a:p>
            <a:endParaRPr lang="en-US">
              <a:solidFill>
                <a:prstClr val="black"/>
              </a:solidFill>
              <a:latin typeface="Montserrat"/>
            </a:endParaRPr>
          </a:p>
        </p:txBody>
      </p:sp>
      <p:sp>
        <p:nvSpPr>
          <p:cNvPr id="93" name="Freeform: Shape 92">
            <a:extLst>
              <a:ext uri="{FF2B5EF4-FFF2-40B4-BE49-F238E27FC236}">
                <a16:creationId xmlns:a16="http://schemas.microsoft.com/office/drawing/2014/main" id="{3122C8E7-869C-4529-BC7C-D2BC65E84EE5}"/>
              </a:ext>
            </a:extLst>
          </p:cNvPr>
          <p:cNvSpPr/>
          <p:nvPr/>
        </p:nvSpPr>
        <p:spPr>
          <a:xfrm>
            <a:off x="687705" y="3275489"/>
            <a:ext cx="1332166" cy="1332166"/>
          </a:xfrm>
          <a:custGeom>
            <a:avLst/>
            <a:gdLst>
              <a:gd name="connsiteX0" fmla="*/ 0 w 1332166"/>
              <a:gd name="connsiteY0" fmla="*/ 0 h 1332166"/>
              <a:gd name="connsiteX1" fmla="*/ 1332167 w 1332166"/>
              <a:gd name="connsiteY1" fmla="*/ 0 h 1332166"/>
              <a:gd name="connsiteX2" fmla="*/ 1332167 w 1332166"/>
              <a:gd name="connsiteY2" fmla="*/ 1332167 h 1332166"/>
              <a:gd name="connsiteX3" fmla="*/ 0 w 1332166"/>
              <a:gd name="connsiteY3" fmla="*/ 1332167 h 1332166"/>
            </a:gdLst>
            <a:ahLst/>
            <a:cxnLst>
              <a:cxn ang="0">
                <a:pos x="connsiteX0" y="connsiteY0"/>
              </a:cxn>
              <a:cxn ang="0">
                <a:pos x="connsiteX1" y="connsiteY1"/>
              </a:cxn>
              <a:cxn ang="0">
                <a:pos x="connsiteX2" y="connsiteY2"/>
              </a:cxn>
              <a:cxn ang="0">
                <a:pos x="connsiteX3" y="connsiteY3"/>
              </a:cxn>
            </a:cxnLst>
            <a:rect l="l" t="t" r="r" b="b"/>
            <a:pathLst>
              <a:path w="1332166" h="1332166">
                <a:moveTo>
                  <a:pt x="0" y="0"/>
                </a:moveTo>
                <a:lnTo>
                  <a:pt x="1332167" y="0"/>
                </a:lnTo>
                <a:lnTo>
                  <a:pt x="1332167" y="1332167"/>
                </a:lnTo>
                <a:lnTo>
                  <a:pt x="0" y="1332167"/>
                </a:lnTo>
                <a:close/>
              </a:path>
            </a:pathLst>
          </a:custGeom>
          <a:gradFill flip="none" rotWithShape="1">
            <a:gsLst>
              <a:gs pos="0">
                <a:srgbClr val="5D28FE"/>
              </a:gs>
              <a:gs pos="100000">
                <a:srgbClr val="BB66DD"/>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94" name="TextBox 93">
            <a:extLst>
              <a:ext uri="{FF2B5EF4-FFF2-40B4-BE49-F238E27FC236}">
                <a16:creationId xmlns:a16="http://schemas.microsoft.com/office/drawing/2014/main" id="{6FE083B4-FECD-48E8-9302-74F87F9A0147}"/>
              </a:ext>
            </a:extLst>
          </p:cNvPr>
          <p:cNvSpPr txBox="1"/>
          <p:nvPr/>
        </p:nvSpPr>
        <p:spPr>
          <a:xfrm>
            <a:off x="924025" y="3526074"/>
            <a:ext cx="859526" cy="830997"/>
          </a:xfrm>
          <a:prstGeom prst="rect">
            <a:avLst/>
          </a:prstGeom>
          <a:noFill/>
        </p:spPr>
        <p:txBody>
          <a:bodyPr wrap="square" rtlCol="0">
            <a:spAutoFit/>
          </a:bodyPr>
          <a:lstStyle/>
          <a:p>
            <a:pPr algn="ctr"/>
            <a:r>
              <a:rPr lang="en-US" sz="4800" dirty="0">
                <a:solidFill>
                  <a:schemeClr val="bg1"/>
                </a:solidFill>
                <a:latin typeface="Montserrat ExtraBold" panose="00000900000000000000" pitchFamily="2" charset="0"/>
                <a:cs typeface="Poppins"/>
                <a:sym typeface="Poppins"/>
                <a:rtl val="0"/>
              </a:rPr>
              <a:t>S</a:t>
            </a:r>
          </a:p>
        </p:txBody>
      </p:sp>
      <p:sp>
        <p:nvSpPr>
          <p:cNvPr id="36" name="TextBox 35">
            <a:extLst>
              <a:ext uri="{FF2B5EF4-FFF2-40B4-BE49-F238E27FC236}">
                <a16:creationId xmlns:a16="http://schemas.microsoft.com/office/drawing/2014/main" id="{C594F892-A806-43A6-B13D-68F78A76649C}"/>
              </a:ext>
            </a:extLst>
          </p:cNvPr>
          <p:cNvSpPr txBox="1"/>
          <p:nvPr/>
        </p:nvSpPr>
        <p:spPr>
          <a:xfrm>
            <a:off x="6558348" y="3526074"/>
            <a:ext cx="859526" cy="830997"/>
          </a:xfrm>
          <a:prstGeom prst="rect">
            <a:avLst/>
          </a:prstGeom>
          <a:noFill/>
        </p:spPr>
        <p:txBody>
          <a:bodyPr wrap="square" rtlCol="0">
            <a:spAutoFit/>
          </a:bodyPr>
          <a:lstStyle/>
          <a:p>
            <a:pPr algn="ctr"/>
            <a:r>
              <a:rPr lang="en-US" sz="4800" dirty="0">
                <a:solidFill>
                  <a:schemeClr val="bg1"/>
                </a:solidFill>
                <a:latin typeface="Montserrat ExtraBold" panose="00000900000000000000" pitchFamily="2" charset="0"/>
                <a:cs typeface="Poppins"/>
                <a:sym typeface="Poppins"/>
                <a:rtl val="0"/>
              </a:rPr>
              <a:t>O</a:t>
            </a:r>
          </a:p>
        </p:txBody>
      </p:sp>
      <p:sp>
        <p:nvSpPr>
          <p:cNvPr id="39" name="TextBox 38">
            <a:extLst>
              <a:ext uri="{FF2B5EF4-FFF2-40B4-BE49-F238E27FC236}">
                <a16:creationId xmlns:a16="http://schemas.microsoft.com/office/drawing/2014/main" id="{18A89E78-433E-4570-BD64-4929224E95E3}"/>
              </a:ext>
            </a:extLst>
          </p:cNvPr>
          <p:cNvSpPr txBox="1"/>
          <p:nvPr/>
        </p:nvSpPr>
        <p:spPr>
          <a:xfrm>
            <a:off x="7941314" y="3781981"/>
            <a:ext cx="4215882" cy="918841"/>
          </a:xfrm>
          <a:prstGeom prst="rect">
            <a:avLst/>
          </a:prstGeom>
          <a:noFill/>
        </p:spPr>
        <p:txBody>
          <a:bodyPr wrap="square" rtlCol="0">
            <a:spAutoFit/>
          </a:bodyPr>
          <a:lstStyle/>
          <a:p>
            <a:pPr>
              <a:lnSpc>
                <a:spcPts val="2200"/>
              </a:lnSpc>
            </a:pPr>
            <a:r>
              <a:rPr lang="hu-HU" sz="1600" dirty="0">
                <a:solidFill>
                  <a:schemeClr val="bg2">
                    <a:lumMod val="25000"/>
                  </a:schemeClr>
                </a:solidFill>
                <a:latin typeface="Montserrat" panose="02000505000000020004" pitchFamily="2" charset="0"/>
                <a:cs typeface="Poppins"/>
                <a:sym typeface="Poppins"/>
                <a:rtl val="0"/>
              </a:rPr>
              <a:t>Lehetőségünk nyílik az együttműködés készségét fejleszteni a csapatmunkának köszönhetően.</a:t>
            </a:r>
            <a:endParaRPr lang="en-US" sz="1600" dirty="0">
              <a:solidFill>
                <a:schemeClr val="bg2">
                  <a:lumMod val="25000"/>
                </a:schemeClr>
              </a:solidFill>
              <a:latin typeface="Montserrat" panose="02000505000000020004" pitchFamily="2" charset="0"/>
              <a:cs typeface="Poppins"/>
              <a:sym typeface="Poppins"/>
              <a:rtl val="0"/>
            </a:endParaRPr>
          </a:p>
        </p:txBody>
      </p:sp>
      <p:sp>
        <p:nvSpPr>
          <p:cNvPr id="40" name="TextBox 39">
            <a:extLst>
              <a:ext uri="{FF2B5EF4-FFF2-40B4-BE49-F238E27FC236}">
                <a16:creationId xmlns:a16="http://schemas.microsoft.com/office/drawing/2014/main" id="{6CAEA254-7458-4209-AB60-A8FD9432E771}"/>
              </a:ext>
            </a:extLst>
          </p:cNvPr>
          <p:cNvSpPr txBox="1"/>
          <p:nvPr/>
        </p:nvSpPr>
        <p:spPr>
          <a:xfrm>
            <a:off x="7941314" y="3464451"/>
            <a:ext cx="1781257" cy="369332"/>
          </a:xfrm>
          <a:prstGeom prst="rect">
            <a:avLst/>
          </a:prstGeom>
          <a:noFill/>
        </p:spPr>
        <p:txBody>
          <a:bodyPr wrap="none" rtlCol="0">
            <a:spAutoFit/>
          </a:bodyPr>
          <a:lstStyle/>
          <a:p>
            <a:r>
              <a:rPr lang="hu-HU" dirty="0">
                <a:solidFill>
                  <a:schemeClr val="bg2">
                    <a:lumMod val="25000"/>
                  </a:schemeClr>
                </a:solidFill>
                <a:latin typeface="Montserrat ExtraBold" panose="00000900000000000000" pitchFamily="2" charset="0"/>
                <a:cs typeface="Poppins"/>
                <a:sym typeface="Poppins"/>
                <a:rtl val="0"/>
              </a:rPr>
              <a:t>Lehetőségek</a:t>
            </a:r>
            <a:endParaRPr lang="en-US" dirty="0">
              <a:solidFill>
                <a:schemeClr val="bg2">
                  <a:lumMod val="25000"/>
                </a:schemeClr>
              </a:solidFill>
              <a:latin typeface="Montserrat ExtraBold" panose="00000900000000000000" pitchFamily="2" charset="0"/>
              <a:cs typeface="Poppins"/>
              <a:sym typeface="Poppins"/>
              <a:rtl val="0"/>
            </a:endParaRPr>
          </a:p>
        </p:txBody>
      </p:sp>
      <p:sp>
        <p:nvSpPr>
          <p:cNvPr id="57" name="Rectangle 56">
            <a:extLst>
              <a:ext uri="{FF2B5EF4-FFF2-40B4-BE49-F238E27FC236}">
                <a16:creationId xmlns:a16="http://schemas.microsoft.com/office/drawing/2014/main" id="{9E96AA28-ADF6-4B19-AFE8-277951610AAE}"/>
              </a:ext>
            </a:extLst>
          </p:cNvPr>
          <p:cNvSpPr/>
          <p:nvPr/>
        </p:nvSpPr>
        <p:spPr>
          <a:xfrm rot="5400000">
            <a:off x="4970828" y="-1919"/>
            <a:ext cx="2250345" cy="114694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lt1"/>
              </a:solidFill>
            </a:endParaRPr>
          </a:p>
        </p:txBody>
      </p:sp>
      <p:sp>
        <p:nvSpPr>
          <p:cNvPr id="27" name="TextBox 26">
            <a:extLst>
              <a:ext uri="{FF2B5EF4-FFF2-40B4-BE49-F238E27FC236}">
                <a16:creationId xmlns:a16="http://schemas.microsoft.com/office/drawing/2014/main" id="{30E38A96-ECAE-4DD5-B775-C640A4913C0B}"/>
              </a:ext>
            </a:extLst>
          </p:cNvPr>
          <p:cNvSpPr txBox="1"/>
          <p:nvPr/>
        </p:nvSpPr>
        <p:spPr>
          <a:xfrm>
            <a:off x="2307054" y="5114147"/>
            <a:ext cx="3797413" cy="918841"/>
          </a:xfrm>
          <a:prstGeom prst="rect">
            <a:avLst/>
          </a:prstGeom>
          <a:noFill/>
        </p:spPr>
        <p:txBody>
          <a:bodyPr wrap="square" rtlCol="0">
            <a:spAutoFit/>
          </a:bodyPr>
          <a:lstStyle/>
          <a:p>
            <a:pPr>
              <a:lnSpc>
                <a:spcPts val="2200"/>
              </a:lnSpc>
            </a:pPr>
            <a:r>
              <a:rPr lang="en-US" sz="1600" dirty="0" err="1">
                <a:solidFill>
                  <a:schemeClr val="bg2">
                    <a:lumMod val="25000"/>
                  </a:schemeClr>
                </a:solidFill>
                <a:latin typeface="Montserrat" panose="02000505000000020004" pitchFamily="2" charset="0"/>
                <a:cs typeface="Poppins"/>
                <a:sym typeface="Poppins"/>
                <a:rtl val="0"/>
              </a:rPr>
              <a:t>Mobilalkalmazás-fejlesztésben</a:t>
            </a:r>
            <a:r>
              <a:rPr lang="en-US" sz="1600" dirty="0">
                <a:solidFill>
                  <a:schemeClr val="bg2">
                    <a:lumMod val="25000"/>
                  </a:schemeClr>
                </a:solidFill>
                <a:latin typeface="Montserrat" panose="02000505000000020004" pitchFamily="2" charset="0"/>
                <a:cs typeface="Poppins"/>
                <a:sym typeface="Poppins"/>
                <a:rtl val="0"/>
              </a:rPr>
              <a:t> </a:t>
            </a:r>
            <a:r>
              <a:rPr lang="hu-HU" sz="1600" dirty="0">
                <a:solidFill>
                  <a:schemeClr val="bg2">
                    <a:lumMod val="25000"/>
                  </a:schemeClr>
                </a:solidFill>
                <a:latin typeface="Montserrat" panose="02000505000000020004" pitchFamily="2" charset="0"/>
                <a:cs typeface="Poppins"/>
                <a:sym typeface="Poppins"/>
                <a:rtl val="0"/>
              </a:rPr>
              <a:t>nem rendelkezünk elég tapasztalattal.</a:t>
            </a:r>
            <a:endParaRPr lang="en-US" sz="1400" dirty="0">
              <a:solidFill>
                <a:schemeClr val="bg2">
                  <a:lumMod val="25000"/>
                </a:schemeClr>
              </a:solidFill>
              <a:latin typeface="Montserrat" panose="02000505000000020004" pitchFamily="2" charset="0"/>
              <a:cs typeface="Poppins"/>
              <a:sym typeface="Poppins"/>
              <a:rtl val="0"/>
            </a:endParaRPr>
          </a:p>
        </p:txBody>
      </p:sp>
      <p:sp>
        <p:nvSpPr>
          <p:cNvPr id="28" name="TextBox 27">
            <a:extLst>
              <a:ext uri="{FF2B5EF4-FFF2-40B4-BE49-F238E27FC236}">
                <a16:creationId xmlns:a16="http://schemas.microsoft.com/office/drawing/2014/main" id="{9E880964-921D-41B2-AF39-0F312D94947A}"/>
              </a:ext>
            </a:extLst>
          </p:cNvPr>
          <p:cNvSpPr txBox="1"/>
          <p:nvPr/>
        </p:nvSpPr>
        <p:spPr>
          <a:xfrm>
            <a:off x="2307054" y="4796617"/>
            <a:ext cx="1867819" cy="369332"/>
          </a:xfrm>
          <a:prstGeom prst="rect">
            <a:avLst/>
          </a:prstGeom>
          <a:noFill/>
        </p:spPr>
        <p:txBody>
          <a:bodyPr wrap="none" rtlCol="0">
            <a:spAutoFit/>
          </a:bodyPr>
          <a:lstStyle/>
          <a:p>
            <a:r>
              <a:rPr lang="hu-HU" dirty="0">
                <a:solidFill>
                  <a:schemeClr val="bg2">
                    <a:lumMod val="25000"/>
                  </a:schemeClr>
                </a:solidFill>
                <a:latin typeface="Montserrat ExtraBold" panose="00000900000000000000" pitchFamily="2" charset="0"/>
                <a:cs typeface="Poppins"/>
                <a:sym typeface="Poppins"/>
                <a:rtl val="0"/>
              </a:rPr>
              <a:t>Gyengeségek</a:t>
            </a:r>
            <a:endParaRPr lang="en-US" dirty="0">
              <a:solidFill>
                <a:schemeClr val="bg2">
                  <a:lumMod val="25000"/>
                </a:schemeClr>
              </a:solidFill>
              <a:latin typeface="Montserrat ExtraBold" panose="00000900000000000000" pitchFamily="2" charset="0"/>
              <a:cs typeface="Poppins"/>
              <a:sym typeface="Poppins"/>
              <a:rtl val="0"/>
            </a:endParaRPr>
          </a:p>
        </p:txBody>
      </p:sp>
      <p:sp>
        <p:nvSpPr>
          <p:cNvPr id="99" name="TextBox 98">
            <a:extLst>
              <a:ext uri="{FF2B5EF4-FFF2-40B4-BE49-F238E27FC236}">
                <a16:creationId xmlns:a16="http://schemas.microsoft.com/office/drawing/2014/main" id="{232A09E6-8483-4090-816E-959E3B326AA1}"/>
              </a:ext>
            </a:extLst>
          </p:cNvPr>
          <p:cNvSpPr txBox="1"/>
          <p:nvPr/>
        </p:nvSpPr>
        <p:spPr>
          <a:xfrm>
            <a:off x="1517235" y="1644694"/>
            <a:ext cx="10113933" cy="1483098"/>
          </a:xfrm>
          <a:prstGeom prst="rect">
            <a:avLst/>
          </a:prstGeom>
          <a:noFill/>
        </p:spPr>
        <p:txBody>
          <a:bodyPr wrap="square" rtlCol="0">
            <a:spAutoFit/>
          </a:bodyPr>
          <a:lstStyle/>
          <a:p>
            <a:pPr>
              <a:lnSpc>
                <a:spcPts val="2200"/>
              </a:lnSpc>
            </a:pPr>
            <a:r>
              <a:rPr lang="hu-HU" sz="1600" dirty="0">
                <a:solidFill>
                  <a:schemeClr val="bg2">
                    <a:lumMod val="25000"/>
                  </a:schemeClr>
                </a:solidFill>
                <a:latin typeface="Montserrat" panose="02000505000000020004" pitchFamily="2" charset="0"/>
                <a:cs typeface="Poppins"/>
                <a:sym typeface="Poppins"/>
                <a:rtl val="0"/>
              </a:rPr>
              <a:t>A </a:t>
            </a:r>
            <a:r>
              <a:rPr lang="hu-HU" sz="1600" dirty="0" err="1">
                <a:solidFill>
                  <a:schemeClr val="bg2">
                    <a:lumMod val="25000"/>
                  </a:schemeClr>
                </a:solidFill>
                <a:latin typeface="Montserrat" panose="02000505000000020004" pitchFamily="2" charset="0"/>
                <a:cs typeface="Poppins"/>
                <a:sym typeface="Poppins"/>
                <a:rtl val="0"/>
              </a:rPr>
              <a:t>MyTunes</a:t>
            </a:r>
            <a:r>
              <a:rPr lang="hu-HU" sz="1600" dirty="0">
                <a:solidFill>
                  <a:schemeClr val="bg2">
                    <a:lumMod val="25000"/>
                  </a:schemeClr>
                </a:solidFill>
                <a:latin typeface="Montserrat" panose="02000505000000020004" pitchFamily="2" charset="0"/>
                <a:cs typeface="Poppins"/>
                <a:sym typeface="Poppins"/>
                <a:rtl val="0"/>
              </a:rPr>
              <a:t> egy modern, rugalmas és felhasználóközpontú zene-streaming platform, amely a minőségi hangzásra, a személyre szabott ajánlásokra és a tiszta, egyszerű felhasználói élményre helyezi a hangsúlyt. A következő SWOT elemzés áttekintést ad a projekt erősségeiről, gyengeségeiről, lehetőségeiről és a piacon jelen lévő fenyegetésekről, hogy segítsen stratégiai döntések meghozatalában és a szolgáltatás hosszú távú sikerének megalapozásában.</a:t>
            </a:r>
            <a:endParaRPr lang="en-US" sz="1600" spc="0" baseline="0" dirty="0">
              <a:solidFill>
                <a:schemeClr val="bg2">
                  <a:lumMod val="25000"/>
                </a:schemeClr>
              </a:solidFill>
              <a:latin typeface="Montserrat" panose="02000505000000020004" pitchFamily="2" charset="0"/>
              <a:cs typeface="Poppins"/>
              <a:sym typeface="Poppins"/>
              <a:rtl val="0"/>
            </a:endParaRPr>
          </a:p>
        </p:txBody>
      </p:sp>
      <p:sp>
        <p:nvSpPr>
          <p:cNvPr id="56" name="Rectangle 55">
            <a:extLst>
              <a:ext uri="{FF2B5EF4-FFF2-40B4-BE49-F238E27FC236}">
                <a16:creationId xmlns:a16="http://schemas.microsoft.com/office/drawing/2014/main" id="{FC2548A6-03B8-4219-B52F-086BA7CC29FC}"/>
              </a:ext>
            </a:extLst>
          </p:cNvPr>
          <p:cNvSpPr/>
          <p:nvPr/>
        </p:nvSpPr>
        <p:spPr>
          <a:xfrm rot="5400000">
            <a:off x="185239" y="1391744"/>
            <a:ext cx="1051919" cy="14224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95" name="TextBox 94">
            <a:extLst>
              <a:ext uri="{FF2B5EF4-FFF2-40B4-BE49-F238E27FC236}">
                <a16:creationId xmlns:a16="http://schemas.microsoft.com/office/drawing/2014/main" id="{7D7A453F-8DB0-473E-84ED-8E9CC6F9B405}"/>
              </a:ext>
            </a:extLst>
          </p:cNvPr>
          <p:cNvSpPr txBox="1"/>
          <p:nvPr/>
        </p:nvSpPr>
        <p:spPr>
          <a:xfrm>
            <a:off x="596265" y="552725"/>
            <a:ext cx="2512226" cy="338554"/>
          </a:xfrm>
          <a:prstGeom prst="rect">
            <a:avLst/>
          </a:prstGeom>
          <a:noFill/>
        </p:spPr>
        <p:txBody>
          <a:bodyPr wrap="none" rtlCol="0">
            <a:spAutoFit/>
          </a:bodyPr>
          <a:lstStyle/>
          <a:p>
            <a:r>
              <a:rPr lang="hu-HU" sz="1600" dirty="0">
                <a:solidFill>
                  <a:schemeClr val="bg2">
                    <a:lumMod val="25000"/>
                  </a:schemeClr>
                </a:solidFill>
                <a:latin typeface="Montserrat" panose="02000505000000020004" pitchFamily="2" charset="0"/>
                <a:cs typeface="Poppins"/>
                <a:sym typeface="Poppins"/>
                <a:rtl val="0"/>
              </a:rPr>
              <a:t>Projekt</a:t>
            </a:r>
            <a:r>
              <a:rPr lang="en-US" sz="1600" dirty="0">
                <a:solidFill>
                  <a:schemeClr val="bg2">
                    <a:lumMod val="25000"/>
                  </a:schemeClr>
                </a:solidFill>
                <a:latin typeface="Montserrat" panose="02000505000000020004" pitchFamily="2" charset="0"/>
                <a:cs typeface="Poppins"/>
                <a:sym typeface="Poppins"/>
                <a:rtl val="0"/>
              </a:rPr>
              <a:t> </a:t>
            </a:r>
            <a:r>
              <a:rPr lang="en-US" sz="1600" dirty="0">
                <a:gradFill>
                  <a:gsLst>
                    <a:gs pos="0">
                      <a:srgbClr val="5D28FE"/>
                    </a:gs>
                    <a:gs pos="100000">
                      <a:srgbClr val="BB66DD"/>
                    </a:gs>
                  </a:gsLst>
                  <a:lin ang="10800000" scaled="1"/>
                </a:gradFill>
                <a:latin typeface="Montserrat" panose="02000505000000020004" pitchFamily="2" charset="0"/>
                <a:cs typeface="Poppins"/>
                <a:sym typeface="Poppins"/>
                <a:rtl val="0"/>
              </a:rPr>
              <a:t>SWOT </a:t>
            </a:r>
            <a:r>
              <a:rPr lang="hu-HU" sz="1600" dirty="0">
                <a:gradFill>
                  <a:gsLst>
                    <a:gs pos="0">
                      <a:srgbClr val="5D28FE"/>
                    </a:gs>
                    <a:gs pos="100000">
                      <a:srgbClr val="BB66DD"/>
                    </a:gs>
                  </a:gsLst>
                  <a:lin ang="10800000" scaled="1"/>
                </a:gradFill>
                <a:latin typeface="Montserrat" panose="02000505000000020004" pitchFamily="2" charset="0"/>
                <a:cs typeface="Poppins"/>
                <a:sym typeface="Poppins"/>
                <a:rtl val="0"/>
              </a:rPr>
              <a:t>Analízis</a:t>
            </a:r>
            <a:r>
              <a:rPr lang="en-US" sz="1600" dirty="0">
                <a:gradFill>
                  <a:gsLst>
                    <a:gs pos="0">
                      <a:srgbClr val="5D28FE"/>
                    </a:gs>
                    <a:gs pos="100000">
                      <a:srgbClr val="BB66DD"/>
                    </a:gs>
                  </a:gsLst>
                  <a:lin ang="10800000" scaled="1"/>
                </a:gradFill>
                <a:latin typeface="Montserrat" panose="02000505000000020004" pitchFamily="2" charset="0"/>
                <a:cs typeface="Poppins"/>
                <a:sym typeface="Poppins"/>
                <a:rtl val="0"/>
              </a:rPr>
              <a:t> </a:t>
            </a:r>
          </a:p>
        </p:txBody>
      </p:sp>
      <p:sp>
        <p:nvSpPr>
          <p:cNvPr id="96" name="TextBox 95">
            <a:extLst>
              <a:ext uri="{FF2B5EF4-FFF2-40B4-BE49-F238E27FC236}">
                <a16:creationId xmlns:a16="http://schemas.microsoft.com/office/drawing/2014/main" id="{E327AAA5-BCBE-463C-9654-CF9DED3B447C}"/>
              </a:ext>
            </a:extLst>
          </p:cNvPr>
          <p:cNvSpPr txBox="1"/>
          <p:nvPr/>
        </p:nvSpPr>
        <p:spPr>
          <a:xfrm>
            <a:off x="596265" y="930648"/>
            <a:ext cx="8361584" cy="646331"/>
          </a:xfrm>
          <a:prstGeom prst="rect">
            <a:avLst/>
          </a:prstGeom>
          <a:noFill/>
        </p:spPr>
        <p:txBody>
          <a:bodyPr wrap="none" rtlCol="0">
            <a:spAutoFit/>
          </a:bodyPr>
          <a:lstStyle/>
          <a:p>
            <a:r>
              <a:rPr lang="hu-HU" sz="3600" dirty="0" err="1">
                <a:solidFill>
                  <a:schemeClr val="bg2">
                    <a:lumMod val="25000"/>
                  </a:schemeClr>
                </a:solidFill>
                <a:latin typeface="Montserrat ExtraBold" panose="00000900000000000000" pitchFamily="2" charset="0"/>
                <a:cs typeface="Poppins"/>
                <a:sym typeface="Poppins"/>
                <a:rtl val="0"/>
              </a:rPr>
              <a:t>MyTunes</a:t>
            </a:r>
            <a:r>
              <a:rPr lang="hu-HU" sz="3600" dirty="0">
                <a:solidFill>
                  <a:schemeClr val="bg2">
                    <a:lumMod val="25000"/>
                  </a:schemeClr>
                </a:solidFill>
                <a:latin typeface="Montserrat ExtraBold" panose="00000900000000000000" pitchFamily="2" charset="0"/>
                <a:cs typeface="Poppins"/>
                <a:sym typeface="Poppins"/>
                <a:rtl val="0"/>
              </a:rPr>
              <a:t> Projekt </a:t>
            </a:r>
            <a:r>
              <a:rPr lang="en-US" sz="3600" dirty="0">
                <a:gradFill>
                  <a:gsLst>
                    <a:gs pos="0">
                      <a:srgbClr val="5D28FE"/>
                    </a:gs>
                    <a:gs pos="100000">
                      <a:srgbClr val="BB66DD"/>
                    </a:gs>
                  </a:gsLst>
                  <a:lin ang="10800000" scaled="1"/>
                </a:gradFill>
                <a:latin typeface="Montserrat ExtraBold" panose="00000900000000000000" pitchFamily="2" charset="0"/>
                <a:cs typeface="Poppins"/>
                <a:sym typeface="Poppins"/>
                <a:rtl val="0"/>
              </a:rPr>
              <a:t>SWOT Anal</a:t>
            </a:r>
            <a:r>
              <a:rPr lang="hu-HU" sz="3600" dirty="0" err="1">
                <a:gradFill>
                  <a:gsLst>
                    <a:gs pos="0">
                      <a:srgbClr val="5D28FE"/>
                    </a:gs>
                    <a:gs pos="100000">
                      <a:srgbClr val="BB66DD"/>
                    </a:gs>
                  </a:gsLst>
                  <a:lin ang="10800000" scaled="1"/>
                </a:gradFill>
                <a:latin typeface="Montserrat ExtraBold" panose="00000900000000000000" pitchFamily="2" charset="0"/>
                <a:cs typeface="Poppins"/>
                <a:sym typeface="Poppins"/>
                <a:rtl val="0"/>
              </a:rPr>
              <a:t>ízise</a:t>
            </a:r>
            <a:endParaRPr lang="en-US" sz="3600" dirty="0">
              <a:gradFill>
                <a:gsLst>
                  <a:gs pos="0">
                    <a:srgbClr val="5D28FE"/>
                  </a:gs>
                  <a:gs pos="100000">
                    <a:srgbClr val="BB66DD"/>
                  </a:gs>
                </a:gsLst>
                <a:lin ang="10800000" scaled="1"/>
              </a:gradFill>
              <a:latin typeface="Montserrat ExtraBold" panose="00000900000000000000" pitchFamily="2" charset="0"/>
              <a:cs typeface="Poppins"/>
              <a:sym typeface="Poppins"/>
              <a:rtl val="0"/>
            </a:endParaRPr>
          </a:p>
        </p:txBody>
      </p:sp>
      <p:sp>
        <p:nvSpPr>
          <p:cNvPr id="97" name="Freeform: Shape 96">
            <a:extLst>
              <a:ext uri="{FF2B5EF4-FFF2-40B4-BE49-F238E27FC236}">
                <a16:creationId xmlns:a16="http://schemas.microsoft.com/office/drawing/2014/main" id="{EEA53D05-02D9-431E-9DCE-38B867A9F885}"/>
              </a:ext>
            </a:extLst>
          </p:cNvPr>
          <p:cNvSpPr/>
          <p:nvPr/>
        </p:nvSpPr>
        <p:spPr>
          <a:xfrm>
            <a:off x="687705" y="1749689"/>
            <a:ext cx="708850" cy="708850"/>
          </a:xfrm>
          <a:custGeom>
            <a:avLst/>
            <a:gdLst>
              <a:gd name="connsiteX0" fmla="*/ 708850 w 708850"/>
              <a:gd name="connsiteY0" fmla="*/ 354425 h 708850"/>
              <a:gd name="connsiteX1" fmla="*/ 354425 w 708850"/>
              <a:gd name="connsiteY1" fmla="*/ 708851 h 708850"/>
              <a:gd name="connsiteX2" fmla="*/ 0 w 708850"/>
              <a:gd name="connsiteY2" fmla="*/ 354425 h 708850"/>
              <a:gd name="connsiteX3" fmla="*/ 354425 w 708850"/>
              <a:gd name="connsiteY3" fmla="*/ 0 h 708850"/>
              <a:gd name="connsiteX4" fmla="*/ 708850 w 708850"/>
              <a:gd name="connsiteY4" fmla="*/ 354425 h 7088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8850" h="708850">
                <a:moveTo>
                  <a:pt x="708850" y="354425"/>
                </a:moveTo>
                <a:cubicBezTo>
                  <a:pt x="708850" y="550169"/>
                  <a:pt x="550169" y="708851"/>
                  <a:pt x="354425" y="708851"/>
                </a:cubicBezTo>
                <a:cubicBezTo>
                  <a:pt x="158682" y="708851"/>
                  <a:pt x="0" y="550169"/>
                  <a:pt x="0" y="354425"/>
                </a:cubicBezTo>
                <a:cubicBezTo>
                  <a:pt x="0" y="158681"/>
                  <a:pt x="158682" y="0"/>
                  <a:pt x="354425" y="0"/>
                </a:cubicBezTo>
                <a:cubicBezTo>
                  <a:pt x="550169" y="0"/>
                  <a:pt x="708850" y="158681"/>
                  <a:pt x="708850" y="354425"/>
                </a:cubicBezTo>
                <a:close/>
              </a:path>
            </a:pathLst>
          </a:custGeom>
          <a:gradFill>
            <a:gsLst>
              <a:gs pos="0">
                <a:srgbClr val="5D28FE"/>
              </a:gs>
              <a:gs pos="100000">
                <a:srgbClr val="BB66DD"/>
              </a:gs>
            </a:gsLst>
            <a:lin ang="10800000" scaled="1"/>
          </a:gradFill>
          <a:ln w="9525" cap="flat">
            <a:noFill/>
            <a:prstDash val="solid"/>
            <a:miter/>
          </a:ln>
        </p:spPr>
        <p:txBody>
          <a:bodyPr rtlCol="0" anchor="ctr"/>
          <a:lstStyle/>
          <a:p>
            <a:endParaRPr lang="en-US">
              <a:solidFill>
                <a:prstClr val="black"/>
              </a:solidFill>
              <a:latin typeface="Montserrat"/>
            </a:endParaRPr>
          </a:p>
        </p:txBody>
      </p:sp>
      <p:sp>
        <p:nvSpPr>
          <p:cNvPr id="98" name="Freeform: Shape 97">
            <a:extLst>
              <a:ext uri="{FF2B5EF4-FFF2-40B4-BE49-F238E27FC236}">
                <a16:creationId xmlns:a16="http://schemas.microsoft.com/office/drawing/2014/main" id="{5D68EEDD-B351-4D73-A4BF-503963FD2BC4}"/>
              </a:ext>
            </a:extLst>
          </p:cNvPr>
          <p:cNvSpPr/>
          <p:nvPr/>
        </p:nvSpPr>
        <p:spPr>
          <a:xfrm>
            <a:off x="920806" y="1982820"/>
            <a:ext cx="242649" cy="242589"/>
          </a:xfrm>
          <a:custGeom>
            <a:avLst/>
            <a:gdLst>
              <a:gd name="connsiteX0" fmla="*/ 241506 w 242649"/>
              <a:gd name="connsiteY0" fmla="*/ 9716 h 242589"/>
              <a:gd name="connsiteX1" fmla="*/ 241125 w 242649"/>
              <a:gd name="connsiteY1" fmla="*/ 8858 h 242589"/>
              <a:gd name="connsiteX2" fmla="*/ 240840 w 242649"/>
              <a:gd name="connsiteY2" fmla="*/ 8287 h 242589"/>
              <a:gd name="connsiteX3" fmla="*/ 238744 w 242649"/>
              <a:gd name="connsiteY3" fmla="*/ 5239 h 242589"/>
              <a:gd name="connsiteX4" fmla="*/ 238363 w 242649"/>
              <a:gd name="connsiteY4" fmla="*/ 4763 h 242589"/>
              <a:gd name="connsiteX5" fmla="*/ 238077 w 242649"/>
              <a:gd name="connsiteY5" fmla="*/ 4382 h 242589"/>
              <a:gd name="connsiteX6" fmla="*/ 237696 w 242649"/>
              <a:gd name="connsiteY6" fmla="*/ 4096 h 242589"/>
              <a:gd name="connsiteX7" fmla="*/ 237220 w 242649"/>
              <a:gd name="connsiteY7" fmla="*/ 3715 h 242589"/>
              <a:gd name="connsiteX8" fmla="*/ 234172 w 242649"/>
              <a:gd name="connsiteY8" fmla="*/ 1619 h 242589"/>
              <a:gd name="connsiteX9" fmla="*/ 233601 w 242649"/>
              <a:gd name="connsiteY9" fmla="*/ 1333 h 242589"/>
              <a:gd name="connsiteX10" fmla="*/ 232743 w 242649"/>
              <a:gd name="connsiteY10" fmla="*/ 953 h 242589"/>
              <a:gd name="connsiteX11" fmla="*/ 232362 w 242649"/>
              <a:gd name="connsiteY11" fmla="*/ 857 h 242589"/>
              <a:gd name="connsiteX12" fmla="*/ 228362 w 242649"/>
              <a:gd name="connsiteY12" fmla="*/ 0 h 242589"/>
              <a:gd name="connsiteX13" fmla="*/ 228076 w 242649"/>
              <a:gd name="connsiteY13" fmla="*/ 0 h 242589"/>
              <a:gd name="connsiteX14" fmla="*/ 227886 w 242649"/>
              <a:gd name="connsiteY14" fmla="*/ 0 h 242589"/>
              <a:gd name="connsiteX15" fmla="*/ 226933 w 242649"/>
              <a:gd name="connsiteY15" fmla="*/ 0 h 242589"/>
              <a:gd name="connsiteX16" fmla="*/ 226743 w 242649"/>
              <a:gd name="connsiteY16" fmla="*/ 0 h 242589"/>
              <a:gd name="connsiteX17" fmla="*/ 89011 w 242649"/>
              <a:gd name="connsiteY17" fmla="*/ 6096 h 242589"/>
              <a:gd name="connsiteX18" fmla="*/ 74533 w 242649"/>
              <a:gd name="connsiteY18" fmla="*/ 21908 h 242589"/>
              <a:gd name="connsiteX19" fmla="*/ 90345 w 242649"/>
              <a:gd name="connsiteY19" fmla="*/ 36386 h 242589"/>
              <a:gd name="connsiteX20" fmla="*/ 189024 w 242649"/>
              <a:gd name="connsiteY20" fmla="*/ 32004 h 242589"/>
              <a:gd name="connsiteX21" fmla="*/ 4429 w 242649"/>
              <a:gd name="connsiteY21" fmla="*/ 216599 h 242589"/>
              <a:gd name="connsiteX22" fmla="*/ 4429 w 242649"/>
              <a:gd name="connsiteY22" fmla="*/ 238125 h 242589"/>
              <a:gd name="connsiteX23" fmla="*/ 25956 w 242649"/>
              <a:gd name="connsiteY23" fmla="*/ 238125 h 242589"/>
              <a:gd name="connsiteX24" fmla="*/ 210550 w 242649"/>
              <a:gd name="connsiteY24" fmla="*/ 53530 h 242589"/>
              <a:gd name="connsiteX25" fmla="*/ 206169 w 242649"/>
              <a:gd name="connsiteY25" fmla="*/ 152209 h 242589"/>
              <a:gd name="connsiteX26" fmla="*/ 220647 w 242649"/>
              <a:gd name="connsiteY26" fmla="*/ 168021 h 242589"/>
              <a:gd name="connsiteX27" fmla="*/ 232077 w 242649"/>
              <a:gd name="connsiteY27" fmla="*/ 163544 h 242589"/>
              <a:gd name="connsiteX28" fmla="*/ 236553 w 242649"/>
              <a:gd name="connsiteY28" fmla="*/ 153448 h 242589"/>
              <a:gd name="connsiteX29" fmla="*/ 242649 w 242649"/>
              <a:gd name="connsiteY29" fmla="*/ 15621 h 242589"/>
              <a:gd name="connsiteX30" fmla="*/ 242649 w 242649"/>
              <a:gd name="connsiteY30" fmla="*/ 15430 h 242589"/>
              <a:gd name="connsiteX31" fmla="*/ 242649 w 242649"/>
              <a:gd name="connsiteY31" fmla="*/ 14573 h 242589"/>
              <a:gd name="connsiteX32" fmla="*/ 242649 w 242649"/>
              <a:gd name="connsiteY32" fmla="*/ 14288 h 242589"/>
              <a:gd name="connsiteX33" fmla="*/ 242649 w 242649"/>
              <a:gd name="connsiteY33" fmla="*/ 14002 h 242589"/>
              <a:gd name="connsiteX34" fmla="*/ 241887 w 242649"/>
              <a:gd name="connsiteY34" fmla="*/ 10001 h 242589"/>
              <a:gd name="connsiteX35" fmla="*/ 241792 w 242649"/>
              <a:gd name="connsiteY35" fmla="*/ 9620 h 2425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42649" h="242589">
                <a:moveTo>
                  <a:pt x="241506" y="9716"/>
                </a:moveTo>
                <a:cubicBezTo>
                  <a:pt x="241506" y="9716"/>
                  <a:pt x="241221" y="9144"/>
                  <a:pt x="241125" y="8858"/>
                </a:cubicBezTo>
                <a:cubicBezTo>
                  <a:pt x="241125" y="8668"/>
                  <a:pt x="240935" y="8477"/>
                  <a:pt x="240840" y="8287"/>
                </a:cubicBezTo>
                <a:cubicBezTo>
                  <a:pt x="240268" y="7239"/>
                  <a:pt x="239601" y="6191"/>
                  <a:pt x="238744" y="5239"/>
                </a:cubicBezTo>
                <a:cubicBezTo>
                  <a:pt x="238649" y="5048"/>
                  <a:pt x="238458" y="4953"/>
                  <a:pt x="238363" y="4763"/>
                </a:cubicBezTo>
                <a:cubicBezTo>
                  <a:pt x="238268" y="4667"/>
                  <a:pt x="238173" y="4477"/>
                  <a:pt x="238077" y="4382"/>
                </a:cubicBezTo>
                <a:cubicBezTo>
                  <a:pt x="237982" y="4286"/>
                  <a:pt x="237792" y="4191"/>
                  <a:pt x="237696" y="4096"/>
                </a:cubicBezTo>
                <a:cubicBezTo>
                  <a:pt x="237506" y="4000"/>
                  <a:pt x="237411" y="3810"/>
                  <a:pt x="237220" y="3715"/>
                </a:cubicBezTo>
                <a:cubicBezTo>
                  <a:pt x="236268" y="2858"/>
                  <a:pt x="235220" y="2191"/>
                  <a:pt x="234172" y="1619"/>
                </a:cubicBezTo>
                <a:cubicBezTo>
                  <a:pt x="233982" y="1524"/>
                  <a:pt x="233791" y="1429"/>
                  <a:pt x="233601" y="1333"/>
                </a:cubicBezTo>
                <a:cubicBezTo>
                  <a:pt x="233315" y="1238"/>
                  <a:pt x="233029" y="1048"/>
                  <a:pt x="232743" y="953"/>
                </a:cubicBezTo>
                <a:cubicBezTo>
                  <a:pt x="232648" y="953"/>
                  <a:pt x="232458" y="953"/>
                  <a:pt x="232362" y="857"/>
                </a:cubicBezTo>
                <a:cubicBezTo>
                  <a:pt x="231029" y="381"/>
                  <a:pt x="229695" y="95"/>
                  <a:pt x="228362" y="0"/>
                </a:cubicBezTo>
                <a:cubicBezTo>
                  <a:pt x="228267" y="0"/>
                  <a:pt x="228171" y="0"/>
                  <a:pt x="228076" y="0"/>
                </a:cubicBezTo>
                <a:cubicBezTo>
                  <a:pt x="228076" y="0"/>
                  <a:pt x="227981" y="0"/>
                  <a:pt x="227886" y="0"/>
                </a:cubicBezTo>
                <a:cubicBezTo>
                  <a:pt x="227600" y="0"/>
                  <a:pt x="227219" y="0"/>
                  <a:pt x="226933" y="0"/>
                </a:cubicBezTo>
                <a:cubicBezTo>
                  <a:pt x="226933" y="0"/>
                  <a:pt x="226838" y="0"/>
                  <a:pt x="226743" y="0"/>
                </a:cubicBezTo>
                <a:lnTo>
                  <a:pt x="89011" y="6096"/>
                </a:lnTo>
                <a:cubicBezTo>
                  <a:pt x="80629" y="6477"/>
                  <a:pt x="74152" y="13525"/>
                  <a:pt x="74533" y="21908"/>
                </a:cubicBezTo>
                <a:cubicBezTo>
                  <a:pt x="74914" y="30290"/>
                  <a:pt x="81963" y="36767"/>
                  <a:pt x="90345" y="36386"/>
                </a:cubicBezTo>
                <a:lnTo>
                  <a:pt x="189024" y="32004"/>
                </a:lnTo>
                <a:lnTo>
                  <a:pt x="4429" y="216599"/>
                </a:lnTo>
                <a:cubicBezTo>
                  <a:pt x="-1476" y="222504"/>
                  <a:pt x="-1476" y="232124"/>
                  <a:pt x="4429" y="238125"/>
                </a:cubicBezTo>
                <a:cubicBezTo>
                  <a:pt x="10335" y="244126"/>
                  <a:pt x="19955" y="244030"/>
                  <a:pt x="25956" y="238125"/>
                </a:cubicBezTo>
                <a:lnTo>
                  <a:pt x="210550" y="53530"/>
                </a:lnTo>
                <a:lnTo>
                  <a:pt x="206169" y="152209"/>
                </a:lnTo>
                <a:cubicBezTo>
                  <a:pt x="205788" y="160592"/>
                  <a:pt x="212265" y="167640"/>
                  <a:pt x="220647" y="168021"/>
                </a:cubicBezTo>
                <a:cubicBezTo>
                  <a:pt x="225123" y="168212"/>
                  <a:pt x="229124" y="166497"/>
                  <a:pt x="232077" y="163544"/>
                </a:cubicBezTo>
                <a:cubicBezTo>
                  <a:pt x="234648" y="160972"/>
                  <a:pt x="236363" y="157448"/>
                  <a:pt x="236553" y="153448"/>
                </a:cubicBezTo>
                <a:lnTo>
                  <a:pt x="242649" y="15621"/>
                </a:lnTo>
                <a:cubicBezTo>
                  <a:pt x="242649" y="15621"/>
                  <a:pt x="242649" y="15526"/>
                  <a:pt x="242649" y="15430"/>
                </a:cubicBezTo>
                <a:cubicBezTo>
                  <a:pt x="242649" y="15145"/>
                  <a:pt x="242649" y="14859"/>
                  <a:pt x="242649" y="14573"/>
                </a:cubicBezTo>
                <a:cubicBezTo>
                  <a:pt x="242649" y="14478"/>
                  <a:pt x="242649" y="14383"/>
                  <a:pt x="242649" y="14288"/>
                </a:cubicBezTo>
                <a:cubicBezTo>
                  <a:pt x="242649" y="14192"/>
                  <a:pt x="242649" y="14097"/>
                  <a:pt x="242649" y="14002"/>
                </a:cubicBezTo>
                <a:cubicBezTo>
                  <a:pt x="242649" y="12668"/>
                  <a:pt x="242268" y="11335"/>
                  <a:pt x="241887" y="10001"/>
                </a:cubicBezTo>
                <a:cubicBezTo>
                  <a:pt x="241887" y="9906"/>
                  <a:pt x="241887" y="9716"/>
                  <a:pt x="241792" y="9620"/>
                </a:cubicBezTo>
                <a:close/>
              </a:path>
            </a:pathLst>
          </a:custGeom>
          <a:solidFill>
            <a:srgbClr val="F0F0F0"/>
          </a:solidFill>
          <a:ln w="9525" cap="flat">
            <a:noFill/>
            <a:prstDash val="solid"/>
            <a:miter/>
          </a:ln>
        </p:spPr>
        <p:txBody>
          <a:bodyPr rtlCol="0" anchor="ctr"/>
          <a:lstStyle/>
          <a:p>
            <a:endParaRPr lang="en-US">
              <a:solidFill>
                <a:prstClr val="black"/>
              </a:solidFill>
              <a:latin typeface="Montserrat"/>
            </a:endParaRPr>
          </a:p>
        </p:txBody>
      </p:sp>
      <p:sp>
        <p:nvSpPr>
          <p:cNvPr id="85" name="Freeform: Shape 84">
            <a:extLst>
              <a:ext uri="{FF2B5EF4-FFF2-40B4-BE49-F238E27FC236}">
                <a16:creationId xmlns:a16="http://schemas.microsoft.com/office/drawing/2014/main" id="{3017F608-B2AC-4C61-8777-293F3C9F3F7E}"/>
              </a:ext>
            </a:extLst>
          </p:cNvPr>
          <p:cNvSpPr/>
          <p:nvPr/>
        </p:nvSpPr>
        <p:spPr>
          <a:xfrm>
            <a:off x="6322028" y="4607655"/>
            <a:ext cx="1332166" cy="1332166"/>
          </a:xfrm>
          <a:custGeom>
            <a:avLst/>
            <a:gdLst>
              <a:gd name="connsiteX0" fmla="*/ 0 w 1332166"/>
              <a:gd name="connsiteY0" fmla="*/ 0 h 1332166"/>
              <a:gd name="connsiteX1" fmla="*/ 1332166 w 1332166"/>
              <a:gd name="connsiteY1" fmla="*/ 0 h 1332166"/>
              <a:gd name="connsiteX2" fmla="*/ 1332166 w 1332166"/>
              <a:gd name="connsiteY2" fmla="*/ 1332166 h 1332166"/>
              <a:gd name="connsiteX3" fmla="*/ 0 w 1332166"/>
              <a:gd name="connsiteY3" fmla="*/ 1332166 h 1332166"/>
            </a:gdLst>
            <a:ahLst/>
            <a:cxnLst>
              <a:cxn ang="0">
                <a:pos x="connsiteX0" y="connsiteY0"/>
              </a:cxn>
              <a:cxn ang="0">
                <a:pos x="connsiteX1" y="connsiteY1"/>
              </a:cxn>
              <a:cxn ang="0">
                <a:pos x="connsiteX2" y="connsiteY2"/>
              </a:cxn>
              <a:cxn ang="0">
                <a:pos x="connsiteX3" y="connsiteY3"/>
              </a:cxn>
            </a:cxnLst>
            <a:rect l="l" t="t" r="r" b="b"/>
            <a:pathLst>
              <a:path w="1332166" h="1332166">
                <a:moveTo>
                  <a:pt x="0" y="0"/>
                </a:moveTo>
                <a:lnTo>
                  <a:pt x="1332166" y="0"/>
                </a:lnTo>
                <a:lnTo>
                  <a:pt x="1332166" y="1332166"/>
                </a:lnTo>
                <a:lnTo>
                  <a:pt x="0" y="1332166"/>
                </a:lnTo>
                <a:close/>
              </a:path>
            </a:pathLst>
          </a:custGeom>
          <a:gradFill flip="none" rotWithShape="1">
            <a:gsLst>
              <a:gs pos="0">
                <a:srgbClr val="5D28FE"/>
              </a:gs>
              <a:gs pos="100000">
                <a:srgbClr val="BB66DD"/>
              </a:gs>
            </a:gsLst>
            <a:path path="circle">
              <a:fillToRect l="100000" t="100000"/>
            </a:path>
            <a:tileRect r="-100000" b="-100000"/>
          </a:gradFill>
          <a:ln w="9525" cap="flat">
            <a:noFill/>
            <a:prstDash val="solid"/>
            <a:miter/>
          </a:ln>
        </p:spPr>
        <p:txBody>
          <a:bodyPr rtlCol="0" anchor="ctr"/>
          <a:lstStyle/>
          <a:p>
            <a:endParaRPr lang="en-US">
              <a:solidFill>
                <a:prstClr val="black"/>
              </a:solidFill>
              <a:latin typeface="Montserrat"/>
            </a:endParaRPr>
          </a:p>
        </p:txBody>
      </p:sp>
      <p:sp>
        <p:nvSpPr>
          <p:cNvPr id="89" name="Freeform: Shape 88">
            <a:extLst>
              <a:ext uri="{FF2B5EF4-FFF2-40B4-BE49-F238E27FC236}">
                <a16:creationId xmlns:a16="http://schemas.microsoft.com/office/drawing/2014/main" id="{A6C3A525-8055-4A9D-93CF-9676265813D7}"/>
              </a:ext>
            </a:extLst>
          </p:cNvPr>
          <p:cNvSpPr/>
          <p:nvPr/>
        </p:nvSpPr>
        <p:spPr>
          <a:xfrm>
            <a:off x="687705" y="4607655"/>
            <a:ext cx="1332166" cy="1332166"/>
          </a:xfrm>
          <a:custGeom>
            <a:avLst/>
            <a:gdLst>
              <a:gd name="connsiteX0" fmla="*/ 0 w 1332166"/>
              <a:gd name="connsiteY0" fmla="*/ 0 h 1332166"/>
              <a:gd name="connsiteX1" fmla="*/ 1332167 w 1332166"/>
              <a:gd name="connsiteY1" fmla="*/ 0 h 1332166"/>
              <a:gd name="connsiteX2" fmla="*/ 1332167 w 1332166"/>
              <a:gd name="connsiteY2" fmla="*/ 1332166 h 1332166"/>
              <a:gd name="connsiteX3" fmla="*/ 0 w 1332166"/>
              <a:gd name="connsiteY3" fmla="*/ 1332166 h 1332166"/>
            </a:gdLst>
            <a:ahLst/>
            <a:cxnLst>
              <a:cxn ang="0">
                <a:pos x="connsiteX0" y="connsiteY0"/>
              </a:cxn>
              <a:cxn ang="0">
                <a:pos x="connsiteX1" y="connsiteY1"/>
              </a:cxn>
              <a:cxn ang="0">
                <a:pos x="connsiteX2" y="connsiteY2"/>
              </a:cxn>
              <a:cxn ang="0">
                <a:pos x="connsiteX3" y="connsiteY3"/>
              </a:cxn>
            </a:cxnLst>
            <a:rect l="l" t="t" r="r" b="b"/>
            <a:pathLst>
              <a:path w="1332166" h="1332166">
                <a:moveTo>
                  <a:pt x="0" y="0"/>
                </a:moveTo>
                <a:lnTo>
                  <a:pt x="1332167" y="0"/>
                </a:lnTo>
                <a:lnTo>
                  <a:pt x="1332167" y="1332166"/>
                </a:lnTo>
                <a:lnTo>
                  <a:pt x="0" y="1332166"/>
                </a:lnTo>
                <a:close/>
              </a:path>
            </a:pathLst>
          </a:cu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
        <p:nvSpPr>
          <p:cNvPr id="25" name="TextBox 24">
            <a:extLst>
              <a:ext uri="{FF2B5EF4-FFF2-40B4-BE49-F238E27FC236}">
                <a16:creationId xmlns:a16="http://schemas.microsoft.com/office/drawing/2014/main" id="{0664B7FD-8576-4E6D-981B-21F64E5A9502}"/>
              </a:ext>
            </a:extLst>
          </p:cNvPr>
          <p:cNvSpPr txBox="1"/>
          <p:nvPr/>
        </p:nvSpPr>
        <p:spPr>
          <a:xfrm>
            <a:off x="924025" y="4858240"/>
            <a:ext cx="859526" cy="830997"/>
          </a:xfrm>
          <a:prstGeom prst="rect">
            <a:avLst/>
          </a:prstGeom>
          <a:noFill/>
        </p:spPr>
        <p:txBody>
          <a:bodyPr wrap="square" rtlCol="0">
            <a:spAutoFit/>
          </a:bodyPr>
          <a:lstStyle/>
          <a:p>
            <a:pPr algn="ctr"/>
            <a:r>
              <a:rPr lang="en-US" sz="4800" dirty="0">
                <a:solidFill>
                  <a:schemeClr val="bg1"/>
                </a:solidFill>
                <a:latin typeface="Montserrat ExtraBold" panose="00000900000000000000" pitchFamily="2" charset="0"/>
                <a:cs typeface="Poppins"/>
                <a:sym typeface="Poppins"/>
                <a:rtl val="0"/>
              </a:rPr>
              <a:t>W</a:t>
            </a:r>
          </a:p>
        </p:txBody>
      </p:sp>
      <p:sp>
        <p:nvSpPr>
          <p:cNvPr id="37" name="TextBox 36">
            <a:extLst>
              <a:ext uri="{FF2B5EF4-FFF2-40B4-BE49-F238E27FC236}">
                <a16:creationId xmlns:a16="http://schemas.microsoft.com/office/drawing/2014/main" id="{AED5F35C-3965-4D39-BE41-CF48AD6EF3FE}"/>
              </a:ext>
            </a:extLst>
          </p:cNvPr>
          <p:cNvSpPr txBox="1"/>
          <p:nvPr/>
        </p:nvSpPr>
        <p:spPr>
          <a:xfrm>
            <a:off x="6558348" y="4858240"/>
            <a:ext cx="859526" cy="830997"/>
          </a:xfrm>
          <a:prstGeom prst="rect">
            <a:avLst/>
          </a:prstGeom>
          <a:noFill/>
        </p:spPr>
        <p:txBody>
          <a:bodyPr wrap="square" rtlCol="0">
            <a:spAutoFit/>
          </a:bodyPr>
          <a:lstStyle/>
          <a:p>
            <a:pPr algn="ctr"/>
            <a:r>
              <a:rPr lang="en-US" sz="4800" dirty="0">
                <a:solidFill>
                  <a:schemeClr val="bg1"/>
                </a:solidFill>
                <a:latin typeface="Montserrat ExtraBold" panose="00000900000000000000" pitchFamily="2" charset="0"/>
                <a:cs typeface="Poppins"/>
                <a:sym typeface="Poppins"/>
                <a:rtl val="0"/>
              </a:rPr>
              <a:t>T</a:t>
            </a:r>
          </a:p>
        </p:txBody>
      </p:sp>
      <p:sp>
        <p:nvSpPr>
          <p:cNvPr id="42" name="TextBox 41">
            <a:extLst>
              <a:ext uri="{FF2B5EF4-FFF2-40B4-BE49-F238E27FC236}">
                <a16:creationId xmlns:a16="http://schemas.microsoft.com/office/drawing/2014/main" id="{EB3BB609-3EAD-420B-9F9F-BFA5AE737F5A}"/>
              </a:ext>
            </a:extLst>
          </p:cNvPr>
          <p:cNvSpPr txBox="1"/>
          <p:nvPr/>
        </p:nvSpPr>
        <p:spPr>
          <a:xfrm>
            <a:off x="7941314" y="5114147"/>
            <a:ext cx="3797413" cy="918841"/>
          </a:xfrm>
          <a:prstGeom prst="rect">
            <a:avLst/>
          </a:prstGeom>
          <a:noFill/>
        </p:spPr>
        <p:txBody>
          <a:bodyPr wrap="square" rtlCol="0">
            <a:spAutoFit/>
          </a:bodyPr>
          <a:lstStyle/>
          <a:p>
            <a:pPr>
              <a:lnSpc>
                <a:spcPts val="2200"/>
              </a:lnSpc>
            </a:pPr>
            <a:r>
              <a:rPr lang="hu-HU" sz="1600" spc="0" baseline="0" dirty="0">
                <a:solidFill>
                  <a:schemeClr val="bg2">
                    <a:lumMod val="25000"/>
                  </a:schemeClr>
                </a:solidFill>
                <a:latin typeface="Montserrat" panose="02000505000000020004" pitchFamily="2" charset="0"/>
                <a:cs typeface="Poppins"/>
                <a:sym typeface="Poppins"/>
                <a:rtl val="0"/>
              </a:rPr>
              <a:t>A zene-streaming</a:t>
            </a:r>
            <a:r>
              <a:rPr lang="hu-HU" sz="1600" spc="0" dirty="0">
                <a:solidFill>
                  <a:schemeClr val="bg2">
                    <a:lumMod val="25000"/>
                  </a:schemeClr>
                </a:solidFill>
                <a:latin typeface="Montserrat" panose="02000505000000020004" pitchFamily="2" charset="0"/>
                <a:cs typeface="Poppins"/>
                <a:sym typeface="Poppins"/>
                <a:rtl val="0"/>
              </a:rPr>
              <a:t> piacon erős a verseny, a nagy szereplők gyorsan reagálnak az új belépőkre</a:t>
            </a:r>
            <a:endParaRPr lang="en-US" sz="1400" dirty="0">
              <a:solidFill>
                <a:schemeClr val="bg2">
                  <a:lumMod val="25000"/>
                </a:schemeClr>
              </a:solidFill>
              <a:latin typeface="Montserrat" panose="02000505000000020004" pitchFamily="2" charset="0"/>
              <a:cs typeface="Poppins"/>
              <a:sym typeface="Poppins"/>
              <a:rtl val="0"/>
            </a:endParaRPr>
          </a:p>
        </p:txBody>
      </p:sp>
      <p:sp>
        <p:nvSpPr>
          <p:cNvPr id="43" name="TextBox 42">
            <a:extLst>
              <a:ext uri="{FF2B5EF4-FFF2-40B4-BE49-F238E27FC236}">
                <a16:creationId xmlns:a16="http://schemas.microsoft.com/office/drawing/2014/main" id="{DAEE56E7-5C23-4727-9E06-F94A78B7C19C}"/>
              </a:ext>
            </a:extLst>
          </p:cNvPr>
          <p:cNvSpPr txBox="1"/>
          <p:nvPr/>
        </p:nvSpPr>
        <p:spPr>
          <a:xfrm>
            <a:off x="7941314" y="4796617"/>
            <a:ext cx="1923925" cy="369332"/>
          </a:xfrm>
          <a:prstGeom prst="rect">
            <a:avLst/>
          </a:prstGeom>
          <a:noFill/>
        </p:spPr>
        <p:txBody>
          <a:bodyPr wrap="none" rtlCol="0">
            <a:spAutoFit/>
          </a:bodyPr>
          <a:lstStyle/>
          <a:p>
            <a:r>
              <a:rPr lang="hu-HU" dirty="0">
                <a:gradFill>
                  <a:gsLst>
                    <a:gs pos="0">
                      <a:srgbClr val="5D28FE"/>
                    </a:gs>
                    <a:gs pos="100000">
                      <a:srgbClr val="BB66DD"/>
                    </a:gs>
                  </a:gsLst>
                  <a:lin ang="10800000" scaled="1"/>
                </a:gradFill>
                <a:latin typeface="Montserrat ExtraBold" panose="00000900000000000000" pitchFamily="2" charset="0"/>
                <a:cs typeface="Poppins"/>
                <a:sym typeface="Poppins"/>
                <a:rtl val="0"/>
              </a:rPr>
              <a:t>Fenyegetések</a:t>
            </a:r>
            <a:endParaRPr lang="en-US" dirty="0">
              <a:gradFill>
                <a:gsLst>
                  <a:gs pos="0">
                    <a:srgbClr val="5D28FE"/>
                  </a:gs>
                  <a:gs pos="100000">
                    <a:srgbClr val="BB66DD"/>
                  </a:gs>
                </a:gsLst>
                <a:lin ang="10800000" scaled="1"/>
              </a:gradFill>
              <a:latin typeface="Montserrat ExtraBold" panose="00000900000000000000" pitchFamily="2" charset="0"/>
              <a:cs typeface="Poppins"/>
              <a:sym typeface="Poppins"/>
              <a:rtl val="0"/>
            </a:endParaRPr>
          </a:p>
        </p:txBody>
      </p:sp>
      <p:sp>
        <p:nvSpPr>
          <p:cNvPr id="59" name="Rectangle 58">
            <a:extLst>
              <a:ext uri="{FF2B5EF4-FFF2-40B4-BE49-F238E27FC236}">
                <a16:creationId xmlns:a16="http://schemas.microsoft.com/office/drawing/2014/main" id="{CF3775B7-5865-4356-8C89-4E71A2409E33}"/>
              </a:ext>
            </a:extLst>
          </p:cNvPr>
          <p:cNvSpPr/>
          <p:nvPr/>
        </p:nvSpPr>
        <p:spPr>
          <a:xfrm rot="5400000">
            <a:off x="5683494" y="710748"/>
            <a:ext cx="825012" cy="114694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spTree>
    <p:extLst>
      <p:ext uri="{BB962C8B-B14F-4D97-AF65-F5344CB8AC3E}">
        <p14:creationId xmlns:p14="http://schemas.microsoft.com/office/powerpoint/2010/main" val="3639134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53333" fill="hold" grpId="0" nodeType="withEffect">
                                  <p:stCondLst>
                                    <p:cond delay="0"/>
                                  </p:stCondLst>
                                  <p:childTnLst>
                                    <p:set>
                                      <p:cBhvr>
                                        <p:cTn id="6" dur="1" fill="hold">
                                          <p:stCondLst>
                                            <p:cond delay="0"/>
                                          </p:stCondLst>
                                        </p:cTn>
                                        <p:tgtEl>
                                          <p:spTgt spid="95"/>
                                        </p:tgtEl>
                                        <p:attrNameLst>
                                          <p:attrName>style.visibility</p:attrName>
                                        </p:attrNameLst>
                                      </p:cBhvr>
                                      <p:to>
                                        <p:strVal val="visible"/>
                                      </p:to>
                                    </p:set>
                                    <p:anim calcmode="lin" valueType="num">
                                      <p:cBhvr additive="base">
                                        <p:cTn id="7" dur="500" fill="hold"/>
                                        <p:tgtEl>
                                          <p:spTgt spid="95"/>
                                        </p:tgtEl>
                                        <p:attrNameLst>
                                          <p:attrName>ppt_x</p:attrName>
                                        </p:attrNameLst>
                                      </p:cBhvr>
                                      <p:tavLst>
                                        <p:tav tm="0">
                                          <p:val>
                                            <p:strVal val="0-#ppt_w/2"/>
                                          </p:val>
                                        </p:tav>
                                        <p:tav tm="100000">
                                          <p:val>
                                            <p:strVal val="#ppt_x"/>
                                          </p:val>
                                        </p:tav>
                                      </p:tavLst>
                                    </p:anim>
                                    <p:anim calcmode="lin" valueType="num">
                                      <p:cBhvr additive="base">
                                        <p:cTn id="8" dur="500" fill="hold"/>
                                        <p:tgtEl>
                                          <p:spTgt spid="95"/>
                                        </p:tgtEl>
                                        <p:attrNameLst>
                                          <p:attrName>ppt_y</p:attrName>
                                        </p:attrNameLst>
                                      </p:cBhvr>
                                      <p:tavLst>
                                        <p:tav tm="0">
                                          <p:val>
                                            <p:strVal val="#ppt_y"/>
                                          </p:val>
                                        </p:tav>
                                        <p:tav tm="100000">
                                          <p:val>
                                            <p:strVal val="#ppt_y"/>
                                          </p:val>
                                        </p:tav>
                                      </p:tavLst>
                                    </p:anim>
                                  </p:childTnLst>
                                </p:cTn>
                              </p:par>
                              <p:par>
                                <p:cTn id="9" presetID="2" presetClass="entr" presetSubtype="8" decel="53333" fill="hold" grpId="0" nodeType="withEffect">
                                  <p:stCondLst>
                                    <p:cond delay="150"/>
                                  </p:stCondLst>
                                  <p:childTnLst>
                                    <p:set>
                                      <p:cBhvr>
                                        <p:cTn id="10" dur="1" fill="hold">
                                          <p:stCondLst>
                                            <p:cond delay="0"/>
                                          </p:stCondLst>
                                        </p:cTn>
                                        <p:tgtEl>
                                          <p:spTgt spid="96"/>
                                        </p:tgtEl>
                                        <p:attrNameLst>
                                          <p:attrName>style.visibility</p:attrName>
                                        </p:attrNameLst>
                                      </p:cBhvr>
                                      <p:to>
                                        <p:strVal val="visible"/>
                                      </p:to>
                                    </p:set>
                                    <p:anim calcmode="lin" valueType="num">
                                      <p:cBhvr additive="base">
                                        <p:cTn id="11" dur="500" fill="hold"/>
                                        <p:tgtEl>
                                          <p:spTgt spid="96"/>
                                        </p:tgtEl>
                                        <p:attrNameLst>
                                          <p:attrName>ppt_x</p:attrName>
                                        </p:attrNameLst>
                                      </p:cBhvr>
                                      <p:tavLst>
                                        <p:tav tm="0">
                                          <p:val>
                                            <p:strVal val="0-#ppt_w/2"/>
                                          </p:val>
                                        </p:tav>
                                        <p:tav tm="100000">
                                          <p:val>
                                            <p:strVal val="#ppt_x"/>
                                          </p:val>
                                        </p:tav>
                                      </p:tavLst>
                                    </p:anim>
                                    <p:anim calcmode="lin" valueType="num">
                                      <p:cBhvr additive="base">
                                        <p:cTn id="12" dur="500" fill="hold"/>
                                        <p:tgtEl>
                                          <p:spTgt spid="96"/>
                                        </p:tgtEl>
                                        <p:attrNameLst>
                                          <p:attrName>ppt_y</p:attrName>
                                        </p:attrNameLst>
                                      </p:cBhvr>
                                      <p:tavLst>
                                        <p:tav tm="0">
                                          <p:val>
                                            <p:strVal val="#ppt_y"/>
                                          </p:val>
                                        </p:tav>
                                        <p:tav tm="100000">
                                          <p:val>
                                            <p:strVal val="#ppt_y"/>
                                          </p:val>
                                        </p:tav>
                                      </p:tavLst>
                                    </p:anim>
                                  </p:childTnLst>
                                </p:cTn>
                              </p:par>
                              <p:par>
                                <p:cTn id="13" presetID="53" presetClass="entr" presetSubtype="16" fill="hold" grpId="0" nodeType="withEffect">
                                  <p:stCondLst>
                                    <p:cond delay="250"/>
                                  </p:stCondLst>
                                  <p:childTnLst>
                                    <p:set>
                                      <p:cBhvr>
                                        <p:cTn id="14" dur="1" fill="hold">
                                          <p:stCondLst>
                                            <p:cond delay="0"/>
                                          </p:stCondLst>
                                        </p:cTn>
                                        <p:tgtEl>
                                          <p:spTgt spid="97"/>
                                        </p:tgtEl>
                                        <p:attrNameLst>
                                          <p:attrName>style.visibility</p:attrName>
                                        </p:attrNameLst>
                                      </p:cBhvr>
                                      <p:to>
                                        <p:strVal val="visible"/>
                                      </p:to>
                                    </p:set>
                                    <p:anim calcmode="lin" valueType="num">
                                      <p:cBhvr>
                                        <p:cTn id="15" dur="500" fill="hold"/>
                                        <p:tgtEl>
                                          <p:spTgt spid="97"/>
                                        </p:tgtEl>
                                        <p:attrNameLst>
                                          <p:attrName>ppt_w</p:attrName>
                                        </p:attrNameLst>
                                      </p:cBhvr>
                                      <p:tavLst>
                                        <p:tav tm="0">
                                          <p:val>
                                            <p:fltVal val="0"/>
                                          </p:val>
                                        </p:tav>
                                        <p:tav tm="100000">
                                          <p:val>
                                            <p:strVal val="#ppt_w"/>
                                          </p:val>
                                        </p:tav>
                                      </p:tavLst>
                                    </p:anim>
                                    <p:anim calcmode="lin" valueType="num">
                                      <p:cBhvr>
                                        <p:cTn id="16" dur="500" fill="hold"/>
                                        <p:tgtEl>
                                          <p:spTgt spid="97"/>
                                        </p:tgtEl>
                                        <p:attrNameLst>
                                          <p:attrName>ppt_h</p:attrName>
                                        </p:attrNameLst>
                                      </p:cBhvr>
                                      <p:tavLst>
                                        <p:tav tm="0">
                                          <p:val>
                                            <p:fltVal val="0"/>
                                          </p:val>
                                        </p:tav>
                                        <p:tav tm="100000">
                                          <p:val>
                                            <p:strVal val="#ppt_h"/>
                                          </p:val>
                                        </p:tav>
                                      </p:tavLst>
                                    </p:anim>
                                    <p:animEffect transition="in" filter="fade">
                                      <p:cBhvr>
                                        <p:cTn id="17" dur="500"/>
                                        <p:tgtEl>
                                          <p:spTgt spid="97"/>
                                        </p:tgtEl>
                                      </p:cBhvr>
                                    </p:animEffect>
                                  </p:childTnLst>
                                </p:cTn>
                              </p:par>
                              <p:par>
                                <p:cTn id="18" presetID="53" presetClass="entr" presetSubtype="16" fill="hold" grpId="0" nodeType="withEffect">
                                  <p:stCondLst>
                                    <p:cond delay="350"/>
                                  </p:stCondLst>
                                  <p:childTnLst>
                                    <p:set>
                                      <p:cBhvr>
                                        <p:cTn id="19" dur="1" fill="hold">
                                          <p:stCondLst>
                                            <p:cond delay="0"/>
                                          </p:stCondLst>
                                        </p:cTn>
                                        <p:tgtEl>
                                          <p:spTgt spid="98"/>
                                        </p:tgtEl>
                                        <p:attrNameLst>
                                          <p:attrName>style.visibility</p:attrName>
                                        </p:attrNameLst>
                                      </p:cBhvr>
                                      <p:to>
                                        <p:strVal val="visible"/>
                                      </p:to>
                                    </p:set>
                                    <p:anim calcmode="lin" valueType="num">
                                      <p:cBhvr>
                                        <p:cTn id="20" dur="500" fill="hold"/>
                                        <p:tgtEl>
                                          <p:spTgt spid="98"/>
                                        </p:tgtEl>
                                        <p:attrNameLst>
                                          <p:attrName>ppt_w</p:attrName>
                                        </p:attrNameLst>
                                      </p:cBhvr>
                                      <p:tavLst>
                                        <p:tav tm="0">
                                          <p:val>
                                            <p:fltVal val="0"/>
                                          </p:val>
                                        </p:tav>
                                        <p:tav tm="100000">
                                          <p:val>
                                            <p:strVal val="#ppt_w"/>
                                          </p:val>
                                        </p:tav>
                                      </p:tavLst>
                                    </p:anim>
                                    <p:anim calcmode="lin" valueType="num">
                                      <p:cBhvr>
                                        <p:cTn id="21" dur="500" fill="hold"/>
                                        <p:tgtEl>
                                          <p:spTgt spid="98"/>
                                        </p:tgtEl>
                                        <p:attrNameLst>
                                          <p:attrName>ppt_h</p:attrName>
                                        </p:attrNameLst>
                                      </p:cBhvr>
                                      <p:tavLst>
                                        <p:tav tm="0">
                                          <p:val>
                                            <p:fltVal val="0"/>
                                          </p:val>
                                        </p:tav>
                                        <p:tav tm="100000">
                                          <p:val>
                                            <p:strVal val="#ppt_h"/>
                                          </p:val>
                                        </p:tav>
                                      </p:tavLst>
                                    </p:anim>
                                    <p:animEffect transition="in" filter="fade">
                                      <p:cBhvr>
                                        <p:cTn id="22" dur="500"/>
                                        <p:tgtEl>
                                          <p:spTgt spid="98"/>
                                        </p:tgtEl>
                                      </p:cBhvr>
                                    </p:animEffect>
                                  </p:childTnLst>
                                </p:cTn>
                              </p:par>
                              <p:par>
                                <p:cTn id="23" presetID="2" presetClass="entr" presetSubtype="8" decel="53333" fill="hold" grpId="0" nodeType="withEffect">
                                  <p:stCondLst>
                                    <p:cond delay="500"/>
                                  </p:stCondLst>
                                  <p:childTnLst>
                                    <p:set>
                                      <p:cBhvr>
                                        <p:cTn id="24" dur="1" fill="hold">
                                          <p:stCondLst>
                                            <p:cond delay="0"/>
                                          </p:stCondLst>
                                        </p:cTn>
                                        <p:tgtEl>
                                          <p:spTgt spid="99"/>
                                        </p:tgtEl>
                                        <p:attrNameLst>
                                          <p:attrName>style.visibility</p:attrName>
                                        </p:attrNameLst>
                                      </p:cBhvr>
                                      <p:to>
                                        <p:strVal val="visible"/>
                                      </p:to>
                                    </p:set>
                                    <p:anim calcmode="lin" valueType="num">
                                      <p:cBhvr additive="base">
                                        <p:cTn id="25" dur="500" fill="hold"/>
                                        <p:tgtEl>
                                          <p:spTgt spid="99"/>
                                        </p:tgtEl>
                                        <p:attrNameLst>
                                          <p:attrName>ppt_x</p:attrName>
                                        </p:attrNameLst>
                                      </p:cBhvr>
                                      <p:tavLst>
                                        <p:tav tm="0">
                                          <p:val>
                                            <p:strVal val="0-#ppt_w/2"/>
                                          </p:val>
                                        </p:tav>
                                        <p:tav tm="100000">
                                          <p:val>
                                            <p:strVal val="#ppt_x"/>
                                          </p:val>
                                        </p:tav>
                                      </p:tavLst>
                                    </p:anim>
                                    <p:anim calcmode="lin" valueType="num">
                                      <p:cBhvr additive="base">
                                        <p:cTn id="26" dur="500" fill="hold"/>
                                        <p:tgtEl>
                                          <p:spTgt spid="99"/>
                                        </p:tgtEl>
                                        <p:attrNameLst>
                                          <p:attrName>ppt_y</p:attrName>
                                        </p:attrNameLst>
                                      </p:cBhvr>
                                      <p:tavLst>
                                        <p:tav tm="0">
                                          <p:val>
                                            <p:strVal val="#ppt_y"/>
                                          </p:val>
                                        </p:tav>
                                        <p:tav tm="100000">
                                          <p:val>
                                            <p:strVal val="#ppt_y"/>
                                          </p:val>
                                        </p:tav>
                                      </p:tavLst>
                                    </p:anim>
                                  </p:childTnLst>
                                </p:cTn>
                              </p:par>
                              <p:par>
                                <p:cTn id="27" presetID="2" presetClass="entr" presetSubtype="4" decel="53333" fill="hold" grpId="0" nodeType="withEffect">
                                  <p:stCondLst>
                                    <p:cond delay="1000"/>
                                  </p:stCondLst>
                                  <p:childTnLst>
                                    <p:set>
                                      <p:cBhvr>
                                        <p:cTn id="28" dur="1" fill="hold">
                                          <p:stCondLst>
                                            <p:cond delay="0"/>
                                          </p:stCondLst>
                                        </p:cTn>
                                        <p:tgtEl>
                                          <p:spTgt spid="93"/>
                                        </p:tgtEl>
                                        <p:attrNameLst>
                                          <p:attrName>style.visibility</p:attrName>
                                        </p:attrNameLst>
                                      </p:cBhvr>
                                      <p:to>
                                        <p:strVal val="visible"/>
                                      </p:to>
                                    </p:set>
                                    <p:anim calcmode="lin" valueType="num">
                                      <p:cBhvr additive="base">
                                        <p:cTn id="29" dur="500" fill="hold"/>
                                        <p:tgtEl>
                                          <p:spTgt spid="93"/>
                                        </p:tgtEl>
                                        <p:attrNameLst>
                                          <p:attrName>ppt_x</p:attrName>
                                        </p:attrNameLst>
                                      </p:cBhvr>
                                      <p:tavLst>
                                        <p:tav tm="0">
                                          <p:val>
                                            <p:strVal val="#ppt_x"/>
                                          </p:val>
                                        </p:tav>
                                        <p:tav tm="100000">
                                          <p:val>
                                            <p:strVal val="#ppt_x"/>
                                          </p:val>
                                        </p:tav>
                                      </p:tavLst>
                                    </p:anim>
                                    <p:anim calcmode="lin" valueType="num">
                                      <p:cBhvr additive="base">
                                        <p:cTn id="30" dur="500" fill="hold"/>
                                        <p:tgtEl>
                                          <p:spTgt spid="93"/>
                                        </p:tgtEl>
                                        <p:attrNameLst>
                                          <p:attrName>ppt_y</p:attrName>
                                        </p:attrNameLst>
                                      </p:cBhvr>
                                      <p:tavLst>
                                        <p:tav tm="0">
                                          <p:val>
                                            <p:strVal val="1+#ppt_h/2"/>
                                          </p:val>
                                        </p:tav>
                                        <p:tav tm="100000">
                                          <p:val>
                                            <p:strVal val="#ppt_y"/>
                                          </p:val>
                                        </p:tav>
                                      </p:tavLst>
                                    </p:anim>
                                  </p:childTnLst>
                                </p:cTn>
                              </p:par>
                              <p:par>
                                <p:cTn id="31" presetID="10" presetClass="entr" presetSubtype="0" fill="hold" grpId="0" nodeType="withEffect">
                                  <p:stCondLst>
                                    <p:cond delay="1500"/>
                                  </p:stCondLst>
                                  <p:childTnLst>
                                    <p:set>
                                      <p:cBhvr>
                                        <p:cTn id="32" dur="1" fill="hold">
                                          <p:stCondLst>
                                            <p:cond delay="0"/>
                                          </p:stCondLst>
                                        </p:cTn>
                                        <p:tgtEl>
                                          <p:spTgt spid="94"/>
                                        </p:tgtEl>
                                        <p:attrNameLst>
                                          <p:attrName>style.visibility</p:attrName>
                                        </p:attrNameLst>
                                      </p:cBhvr>
                                      <p:to>
                                        <p:strVal val="visible"/>
                                      </p:to>
                                    </p:set>
                                    <p:animEffect transition="in" filter="fade">
                                      <p:cBhvr>
                                        <p:cTn id="33" dur="500"/>
                                        <p:tgtEl>
                                          <p:spTgt spid="94"/>
                                        </p:tgtEl>
                                      </p:cBhvr>
                                    </p:animEffect>
                                  </p:childTnLst>
                                </p:cTn>
                              </p:par>
                              <p:par>
                                <p:cTn id="34" presetID="2" presetClass="entr" presetSubtype="4" decel="53333" fill="hold" grpId="0" nodeType="withEffect">
                                  <p:stCondLst>
                                    <p:cond delay="1500"/>
                                  </p:stCondLst>
                                  <p:childTnLst>
                                    <p:set>
                                      <p:cBhvr>
                                        <p:cTn id="35" dur="1" fill="hold">
                                          <p:stCondLst>
                                            <p:cond delay="0"/>
                                          </p:stCondLst>
                                        </p:cTn>
                                        <p:tgtEl>
                                          <p:spTgt spid="92"/>
                                        </p:tgtEl>
                                        <p:attrNameLst>
                                          <p:attrName>style.visibility</p:attrName>
                                        </p:attrNameLst>
                                      </p:cBhvr>
                                      <p:to>
                                        <p:strVal val="visible"/>
                                      </p:to>
                                    </p:set>
                                    <p:anim calcmode="lin" valueType="num">
                                      <p:cBhvr additive="base">
                                        <p:cTn id="36" dur="500" fill="hold"/>
                                        <p:tgtEl>
                                          <p:spTgt spid="92"/>
                                        </p:tgtEl>
                                        <p:attrNameLst>
                                          <p:attrName>ppt_x</p:attrName>
                                        </p:attrNameLst>
                                      </p:cBhvr>
                                      <p:tavLst>
                                        <p:tav tm="0">
                                          <p:val>
                                            <p:strVal val="#ppt_x"/>
                                          </p:val>
                                        </p:tav>
                                        <p:tav tm="100000">
                                          <p:val>
                                            <p:strVal val="#ppt_x"/>
                                          </p:val>
                                        </p:tav>
                                      </p:tavLst>
                                    </p:anim>
                                    <p:anim calcmode="lin" valueType="num">
                                      <p:cBhvr additive="base">
                                        <p:cTn id="37" dur="500" fill="hold"/>
                                        <p:tgtEl>
                                          <p:spTgt spid="92"/>
                                        </p:tgtEl>
                                        <p:attrNameLst>
                                          <p:attrName>ppt_y</p:attrName>
                                        </p:attrNameLst>
                                      </p:cBhvr>
                                      <p:tavLst>
                                        <p:tav tm="0">
                                          <p:val>
                                            <p:strVal val="1+#ppt_h/2"/>
                                          </p:val>
                                        </p:tav>
                                        <p:tav tm="100000">
                                          <p:val>
                                            <p:strVal val="#ppt_y"/>
                                          </p:val>
                                        </p:tav>
                                      </p:tavLst>
                                    </p:anim>
                                  </p:childTnLst>
                                </p:cTn>
                              </p:par>
                              <p:par>
                                <p:cTn id="38" presetID="2" presetClass="entr" presetSubtype="4" decel="53333" fill="hold" grpId="0" nodeType="withEffect">
                                  <p:stCondLst>
                                    <p:cond delay="1650"/>
                                  </p:stCondLst>
                                  <p:childTnLst>
                                    <p:set>
                                      <p:cBhvr>
                                        <p:cTn id="39" dur="1" fill="hold">
                                          <p:stCondLst>
                                            <p:cond delay="0"/>
                                          </p:stCondLst>
                                        </p:cTn>
                                        <p:tgtEl>
                                          <p:spTgt spid="91"/>
                                        </p:tgtEl>
                                        <p:attrNameLst>
                                          <p:attrName>style.visibility</p:attrName>
                                        </p:attrNameLst>
                                      </p:cBhvr>
                                      <p:to>
                                        <p:strVal val="visible"/>
                                      </p:to>
                                    </p:set>
                                    <p:anim calcmode="lin" valueType="num">
                                      <p:cBhvr additive="base">
                                        <p:cTn id="40" dur="500" fill="hold"/>
                                        <p:tgtEl>
                                          <p:spTgt spid="91"/>
                                        </p:tgtEl>
                                        <p:attrNameLst>
                                          <p:attrName>ppt_x</p:attrName>
                                        </p:attrNameLst>
                                      </p:cBhvr>
                                      <p:tavLst>
                                        <p:tav tm="0">
                                          <p:val>
                                            <p:strVal val="#ppt_x"/>
                                          </p:val>
                                        </p:tav>
                                        <p:tav tm="100000">
                                          <p:val>
                                            <p:strVal val="#ppt_x"/>
                                          </p:val>
                                        </p:tav>
                                      </p:tavLst>
                                    </p:anim>
                                    <p:anim calcmode="lin" valueType="num">
                                      <p:cBhvr additive="base">
                                        <p:cTn id="41" dur="500" fill="hold"/>
                                        <p:tgtEl>
                                          <p:spTgt spid="91"/>
                                        </p:tgtEl>
                                        <p:attrNameLst>
                                          <p:attrName>ppt_y</p:attrName>
                                        </p:attrNameLst>
                                      </p:cBhvr>
                                      <p:tavLst>
                                        <p:tav tm="0">
                                          <p:val>
                                            <p:strVal val="1+#ppt_h/2"/>
                                          </p:val>
                                        </p:tav>
                                        <p:tav tm="100000">
                                          <p:val>
                                            <p:strVal val="#ppt_y"/>
                                          </p:val>
                                        </p:tav>
                                      </p:tavLst>
                                    </p:anim>
                                  </p:childTnLst>
                                </p:cTn>
                              </p:par>
                            </p:childTnLst>
                          </p:cTn>
                        </p:par>
                        <p:par>
                          <p:cTn id="42" fill="hold">
                            <p:stCondLst>
                              <p:cond delay="2150"/>
                            </p:stCondLst>
                            <p:childTnLst>
                              <p:par>
                                <p:cTn id="43" presetID="2" presetClass="entr" presetSubtype="4" decel="53333" fill="hold" grpId="0" nodeType="afterEffect">
                                  <p:stCondLst>
                                    <p:cond delay="0"/>
                                  </p:stCondLst>
                                  <p:childTnLst>
                                    <p:set>
                                      <p:cBhvr>
                                        <p:cTn id="44" dur="1" fill="hold">
                                          <p:stCondLst>
                                            <p:cond delay="0"/>
                                          </p:stCondLst>
                                        </p:cTn>
                                        <p:tgtEl>
                                          <p:spTgt spid="89"/>
                                        </p:tgtEl>
                                        <p:attrNameLst>
                                          <p:attrName>style.visibility</p:attrName>
                                        </p:attrNameLst>
                                      </p:cBhvr>
                                      <p:to>
                                        <p:strVal val="visible"/>
                                      </p:to>
                                    </p:set>
                                    <p:anim calcmode="lin" valueType="num">
                                      <p:cBhvr additive="base">
                                        <p:cTn id="45" dur="500" fill="hold"/>
                                        <p:tgtEl>
                                          <p:spTgt spid="89"/>
                                        </p:tgtEl>
                                        <p:attrNameLst>
                                          <p:attrName>ppt_x</p:attrName>
                                        </p:attrNameLst>
                                      </p:cBhvr>
                                      <p:tavLst>
                                        <p:tav tm="0">
                                          <p:val>
                                            <p:strVal val="#ppt_x"/>
                                          </p:val>
                                        </p:tav>
                                        <p:tav tm="100000">
                                          <p:val>
                                            <p:strVal val="#ppt_x"/>
                                          </p:val>
                                        </p:tav>
                                      </p:tavLst>
                                    </p:anim>
                                    <p:anim calcmode="lin" valueType="num">
                                      <p:cBhvr additive="base">
                                        <p:cTn id="46" dur="500" fill="hold"/>
                                        <p:tgtEl>
                                          <p:spTgt spid="89"/>
                                        </p:tgtEl>
                                        <p:attrNameLst>
                                          <p:attrName>ppt_y</p:attrName>
                                        </p:attrNameLst>
                                      </p:cBhvr>
                                      <p:tavLst>
                                        <p:tav tm="0">
                                          <p:val>
                                            <p:strVal val="1+#ppt_h/2"/>
                                          </p:val>
                                        </p:tav>
                                        <p:tav tm="100000">
                                          <p:val>
                                            <p:strVal val="#ppt_y"/>
                                          </p:val>
                                        </p:tav>
                                      </p:tavLst>
                                    </p:anim>
                                  </p:childTnLst>
                                </p:cTn>
                              </p:par>
                              <p:par>
                                <p:cTn id="47" presetID="10" presetClass="entr" presetSubtype="0" fill="hold" grpId="0" nodeType="withEffect">
                                  <p:stCondLst>
                                    <p:cond delay="50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500"/>
                                        <p:tgtEl>
                                          <p:spTgt spid="25"/>
                                        </p:tgtEl>
                                      </p:cBhvr>
                                    </p:animEffect>
                                  </p:childTnLst>
                                </p:cTn>
                              </p:par>
                              <p:par>
                                <p:cTn id="50" presetID="2" presetClass="entr" presetSubtype="4" decel="53333" fill="hold" grpId="0" nodeType="withEffect">
                                  <p:stCondLst>
                                    <p:cond delay="500"/>
                                  </p:stCondLst>
                                  <p:childTnLst>
                                    <p:set>
                                      <p:cBhvr>
                                        <p:cTn id="51" dur="1" fill="hold">
                                          <p:stCondLst>
                                            <p:cond delay="0"/>
                                          </p:stCondLst>
                                        </p:cTn>
                                        <p:tgtEl>
                                          <p:spTgt spid="28"/>
                                        </p:tgtEl>
                                        <p:attrNameLst>
                                          <p:attrName>style.visibility</p:attrName>
                                        </p:attrNameLst>
                                      </p:cBhvr>
                                      <p:to>
                                        <p:strVal val="visible"/>
                                      </p:to>
                                    </p:set>
                                    <p:anim calcmode="lin" valueType="num">
                                      <p:cBhvr additive="base">
                                        <p:cTn id="52" dur="500" fill="hold"/>
                                        <p:tgtEl>
                                          <p:spTgt spid="28"/>
                                        </p:tgtEl>
                                        <p:attrNameLst>
                                          <p:attrName>ppt_x</p:attrName>
                                        </p:attrNameLst>
                                      </p:cBhvr>
                                      <p:tavLst>
                                        <p:tav tm="0">
                                          <p:val>
                                            <p:strVal val="#ppt_x"/>
                                          </p:val>
                                        </p:tav>
                                        <p:tav tm="100000">
                                          <p:val>
                                            <p:strVal val="#ppt_x"/>
                                          </p:val>
                                        </p:tav>
                                      </p:tavLst>
                                    </p:anim>
                                    <p:anim calcmode="lin" valueType="num">
                                      <p:cBhvr additive="base">
                                        <p:cTn id="53" dur="500" fill="hold"/>
                                        <p:tgtEl>
                                          <p:spTgt spid="28"/>
                                        </p:tgtEl>
                                        <p:attrNameLst>
                                          <p:attrName>ppt_y</p:attrName>
                                        </p:attrNameLst>
                                      </p:cBhvr>
                                      <p:tavLst>
                                        <p:tav tm="0">
                                          <p:val>
                                            <p:strVal val="1+#ppt_h/2"/>
                                          </p:val>
                                        </p:tav>
                                        <p:tav tm="100000">
                                          <p:val>
                                            <p:strVal val="#ppt_y"/>
                                          </p:val>
                                        </p:tav>
                                      </p:tavLst>
                                    </p:anim>
                                  </p:childTnLst>
                                </p:cTn>
                              </p:par>
                              <p:par>
                                <p:cTn id="54" presetID="2" presetClass="entr" presetSubtype="4" decel="53333" fill="hold" grpId="0" nodeType="withEffect">
                                  <p:stCondLst>
                                    <p:cond delay="650"/>
                                  </p:stCondLst>
                                  <p:childTnLst>
                                    <p:set>
                                      <p:cBhvr>
                                        <p:cTn id="55" dur="1" fill="hold">
                                          <p:stCondLst>
                                            <p:cond delay="0"/>
                                          </p:stCondLst>
                                        </p:cTn>
                                        <p:tgtEl>
                                          <p:spTgt spid="27"/>
                                        </p:tgtEl>
                                        <p:attrNameLst>
                                          <p:attrName>style.visibility</p:attrName>
                                        </p:attrNameLst>
                                      </p:cBhvr>
                                      <p:to>
                                        <p:strVal val="visible"/>
                                      </p:to>
                                    </p:set>
                                    <p:anim calcmode="lin" valueType="num">
                                      <p:cBhvr additive="base">
                                        <p:cTn id="56" dur="500" fill="hold"/>
                                        <p:tgtEl>
                                          <p:spTgt spid="27"/>
                                        </p:tgtEl>
                                        <p:attrNameLst>
                                          <p:attrName>ppt_x</p:attrName>
                                        </p:attrNameLst>
                                      </p:cBhvr>
                                      <p:tavLst>
                                        <p:tav tm="0">
                                          <p:val>
                                            <p:strVal val="#ppt_x"/>
                                          </p:val>
                                        </p:tav>
                                        <p:tav tm="100000">
                                          <p:val>
                                            <p:strVal val="#ppt_x"/>
                                          </p:val>
                                        </p:tav>
                                      </p:tavLst>
                                    </p:anim>
                                    <p:anim calcmode="lin" valueType="num">
                                      <p:cBhvr additive="base">
                                        <p:cTn id="57" dur="500" fill="hold"/>
                                        <p:tgtEl>
                                          <p:spTgt spid="27"/>
                                        </p:tgtEl>
                                        <p:attrNameLst>
                                          <p:attrName>ppt_y</p:attrName>
                                        </p:attrNameLst>
                                      </p:cBhvr>
                                      <p:tavLst>
                                        <p:tav tm="0">
                                          <p:val>
                                            <p:strVal val="1+#ppt_h/2"/>
                                          </p:val>
                                        </p:tav>
                                        <p:tav tm="100000">
                                          <p:val>
                                            <p:strVal val="#ppt_y"/>
                                          </p:val>
                                        </p:tav>
                                      </p:tavLst>
                                    </p:anim>
                                  </p:childTnLst>
                                </p:cTn>
                              </p:par>
                            </p:childTnLst>
                          </p:cTn>
                        </p:par>
                        <p:par>
                          <p:cTn id="58" fill="hold">
                            <p:stCondLst>
                              <p:cond delay="3300"/>
                            </p:stCondLst>
                            <p:childTnLst>
                              <p:par>
                                <p:cTn id="59" presetID="2" presetClass="entr" presetSubtype="4" decel="53333" fill="hold" grpId="0" nodeType="afterEffect">
                                  <p:stCondLst>
                                    <p:cond delay="0"/>
                                  </p:stCondLst>
                                  <p:childTnLst>
                                    <p:set>
                                      <p:cBhvr>
                                        <p:cTn id="60" dur="1" fill="hold">
                                          <p:stCondLst>
                                            <p:cond delay="0"/>
                                          </p:stCondLst>
                                        </p:cTn>
                                        <p:tgtEl>
                                          <p:spTgt spid="81"/>
                                        </p:tgtEl>
                                        <p:attrNameLst>
                                          <p:attrName>style.visibility</p:attrName>
                                        </p:attrNameLst>
                                      </p:cBhvr>
                                      <p:to>
                                        <p:strVal val="visible"/>
                                      </p:to>
                                    </p:set>
                                    <p:anim calcmode="lin" valueType="num">
                                      <p:cBhvr additive="base">
                                        <p:cTn id="61" dur="500" fill="hold"/>
                                        <p:tgtEl>
                                          <p:spTgt spid="81"/>
                                        </p:tgtEl>
                                        <p:attrNameLst>
                                          <p:attrName>ppt_x</p:attrName>
                                        </p:attrNameLst>
                                      </p:cBhvr>
                                      <p:tavLst>
                                        <p:tav tm="0">
                                          <p:val>
                                            <p:strVal val="#ppt_x"/>
                                          </p:val>
                                        </p:tav>
                                        <p:tav tm="100000">
                                          <p:val>
                                            <p:strVal val="#ppt_x"/>
                                          </p:val>
                                        </p:tav>
                                      </p:tavLst>
                                    </p:anim>
                                    <p:anim calcmode="lin" valueType="num">
                                      <p:cBhvr additive="base">
                                        <p:cTn id="62" dur="500" fill="hold"/>
                                        <p:tgtEl>
                                          <p:spTgt spid="81"/>
                                        </p:tgtEl>
                                        <p:attrNameLst>
                                          <p:attrName>ppt_y</p:attrName>
                                        </p:attrNameLst>
                                      </p:cBhvr>
                                      <p:tavLst>
                                        <p:tav tm="0">
                                          <p:val>
                                            <p:strVal val="1+#ppt_h/2"/>
                                          </p:val>
                                        </p:tav>
                                        <p:tav tm="100000">
                                          <p:val>
                                            <p:strVal val="#ppt_y"/>
                                          </p:val>
                                        </p:tav>
                                      </p:tavLst>
                                    </p:anim>
                                  </p:childTnLst>
                                </p:cTn>
                              </p:par>
                              <p:par>
                                <p:cTn id="63" presetID="10" presetClass="entr" presetSubtype="0" fill="hold" grpId="0" nodeType="withEffect">
                                  <p:stCondLst>
                                    <p:cond delay="500"/>
                                  </p:stCondLst>
                                  <p:childTnLst>
                                    <p:set>
                                      <p:cBhvr>
                                        <p:cTn id="64" dur="1" fill="hold">
                                          <p:stCondLst>
                                            <p:cond delay="0"/>
                                          </p:stCondLst>
                                        </p:cTn>
                                        <p:tgtEl>
                                          <p:spTgt spid="36"/>
                                        </p:tgtEl>
                                        <p:attrNameLst>
                                          <p:attrName>style.visibility</p:attrName>
                                        </p:attrNameLst>
                                      </p:cBhvr>
                                      <p:to>
                                        <p:strVal val="visible"/>
                                      </p:to>
                                    </p:set>
                                    <p:animEffect transition="in" filter="fade">
                                      <p:cBhvr>
                                        <p:cTn id="65" dur="500"/>
                                        <p:tgtEl>
                                          <p:spTgt spid="36"/>
                                        </p:tgtEl>
                                      </p:cBhvr>
                                    </p:animEffect>
                                  </p:childTnLst>
                                </p:cTn>
                              </p:par>
                              <p:par>
                                <p:cTn id="66" presetID="2" presetClass="entr" presetSubtype="4" decel="53333" fill="hold" grpId="0" nodeType="withEffect">
                                  <p:stCondLst>
                                    <p:cond delay="500"/>
                                  </p:stCondLst>
                                  <p:childTnLst>
                                    <p:set>
                                      <p:cBhvr>
                                        <p:cTn id="67" dur="1" fill="hold">
                                          <p:stCondLst>
                                            <p:cond delay="0"/>
                                          </p:stCondLst>
                                        </p:cTn>
                                        <p:tgtEl>
                                          <p:spTgt spid="40"/>
                                        </p:tgtEl>
                                        <p:attrNameLst>
                                          <p:attrName>style.visibility</p:attrName>
                                        </p:attrNameLst>
                                      </p:cBhvr>
                                      <p:to>
                                        <p:strVal val="visible"/>
                                      </p:to>
                                    </p:set>
                                    <p:anim calcmode="lin" valueType="num">
                                      <p:cBhvr additive="base">
                                        <p:cTn id="68" dur="500" fill="hold"/>
                                        <p:tgtEl>
                                          <p:spTgt spid="40"/>
                                        </p:tgtEl>
                                        <p:attrNameLst>
                                          <p:attrName>ppt_x</p:attrName>
                                        </p:attrNameLst>
                                      </p:cBhvr>
                                      <p:tavLst>
                                        <p:tav tm="0">
                                          <p:val>
                                            <p:strVal val="#ppt_x"/>
                                          </p:val>
                                        </p:tav>
                                        <p:tav tm="100000">
                                          <p:val>
                                            <p:strVal val="#ppt_x"/>
                                          </p:val>
                                        </p:tav>
                                      </p:tavLst>
                                    </p:anim>
                                    <p:anim calcmode="lin" valueType="num">
                                      <p:cBhvr additive="base">
                                        <p:cTn id="69" dur="500" fill="hold"/>
                                        <p:tgtEl>
                                          <p:spTgt spid="40"/>
                                        </p:tgtEl>
                                        <p:attrNameLst>
                                          <p:attrName>ppt_y</p:attrName>
                                        </p:attrNameLst>
                                      </p:cBhvr>
                                      <p:tavLst>
                                        <p:tav tm="0">
                                          <p:val>
                                            <p:strVal val="1+#ppt_h/2"/>
                                          </p:val>
                                        </p:tav>
                                        <p:tav tm="100000">
                                          <p:val>
                                            <p:strVal val="#ppt_y"/>
                                          </p:val>
                                        </p:tav>
                                      </p:tavLst>
                                    </p:anim>
                                  </p:childTnLst>
                                </p:cTn>
                              </p:par>
                              <p:par>
                                <p:cTn id="70" presetID="2" presetClass="entr" presetSubtype="4" decel="53333" fill="hold" grpId="0" nodeType="withEffect">
                                  <p:stCondLst>
                                    <p:cond delay="650"/>
                                  </p:stCondLst>
                                  <p:childTnLst>
                                    <p:set>
                                      <p:cBhvr>
                                        <p:cTn id="71" dur="1" fill="hold">
                                          <p:stCondLst>
                                            <p:cond delay="0"/>
                                          </p:stCondLst>
                                        </p:cTn>
                                        <p:tgtEl>
                                          <p:spTgt spid="39"/>
                                        </p:tgtEl>
                                        <p:attrNameLst>
                                          <p:attrName>style.visibility</p:attrName>
                                        </p:attrNameLst>
                                      </p:cBhvr>
                                      <p:to>
                                        <p:strVal val="visible"/>
                                      </p:to>
                                    </p:set>
                                    <p:anim calcmode="lin" valueType="num">
                                      <p:cBhvr additive="base">
                                        <p:cTn id="72" dur="500" fill="hold"/>
                                        <p:tgtEl>
                                          <p:spTgt spid="39"/>
                                        </p:tgtEl>
                                        <p:attrNameLst>
                                          <p:attrName>ppt_x</p:attrName>
                                        </p:attrNameLst>
                                      </p:cBhvr>
                                      <p:tavLst>
                                        <p:tav tm="0">
                                          <p:val>
                                            <p:strVal val="#ppt_x"/>
                                          </p:val>
                                        </p:tav>
                                        <p:tav tm="100000">
                                          <p:val>
                                            <p:strVal val="#ppt_x"/>
                                          </p:val>
                                        </p:tav>
                                      </p:tavLst>
                                    </p:anim>
                                    <p:anim calcmode="lin" valueType="num">
                                      <p:cBhvr additive="base">
                                        <p:cTn id="73" dur="500" fill="hold"/>
                                        <p:tgtEl>
                                          <p:spTgt spid="39"/>
                                        </p:tgtEl>
                                        <p:attrNameLst>
                                          <p:attrName>ppt_y</p:attrName>
                                        </p:attrNameLst>
                                      </p:cBhvr>
                                      <p:tavLst>
                                        <p:tav tm="0">
                                          <p:val>
                                            <p:strVal val="1+#ppt_h/2"/>
                                          </p:val>
                                        </p:tav>
                                        <p:tav tm="100000">
                                          <p:val>
                                            <p:strVal val="#ppt_y"/>
                                          </p:val>
                                        </p:tav>
                                      </p:tavLst>
                                    </p:anim>
                                  </p:childTnLst>
                                </p:cTn>
                              </p:par>
                            </p:childTnLst>
                          </p:cTn>
                        </p:par>
                        <p:par>
                          <p:cTn id="74" fill="hold">
                            <p:stCondLst>
                              <p:cond delay="4450"/>
                            </p:stCondLst>
                            <p:childTnLst>
                              <p:par>
                                <p:cTn id="75" presetID="2" presetClass="entr" presetSubtype="4" decel="53333" fill="hold" grpId="0" nodeType="afterEffect">
                                  <p:stCondLst>
                                    <p:cond delay="0"/>
                                  </p:stCondLst>
                                  <p:childTnLst>
                                    <p:set>
                                      <p:cBhvr>
                                        <p:cTn id="76" dur="1" fill="hold">
                                          <p:stCondLst>
                                            <p:cond delay="0"/>
                                          </p:stCondLst>
                                        </p:cTn>
                                        <p:tgtEl>
                                          <p:spTgt spid="85"/>
                                        </p:tgtEl>
                                        <p:attrNameLst>
                                          <p:attrName>style.visibility</p:attrName>
                                        </p:attrNameLst>
                                      </p:cBhvr>
                                      <p:to>
                                        <p:strVal val="visible"/>
                                      </p:to>
                                    </p:set>
                                    <p:anim calcmode="lin" valueType="num">
                                      <p:cBhvr additive="base">
                                        <p:cTn id="77" dur="500" fill="hold"/>
                                        <p:tgtEl>
                                          <p:spTgt spid="85"/>
                                        </p:tgtEl>
                                        <p:attrNameLst>
                                          <p:attrName>ppt_x</p:attrName>
                                        </p:attrNameLst>
                                      </p:cBhvr>
                                      <p:tavLst>
                                        <p:tav tm="0">
                                          <p:val>
                                            <p:strVal val="#ppt_x"/>
                                          </p:val>
                                        </p:tav>
                                        <p:tav tm="100000">
                                          <p:val>
                                            <p:strVal val="#ppt_x"/>
                                          </p:val>
                                        </p:tav>
                                      </p:tavLst>
                                    </p:anim>
                                    <p:anim calcmode="lin" valueType="num">
                                      <p:cBhvr additive="base">
                                        <p:cTn id="78" dur="500" fill="hold"/>
                                        <p:tgtEl>
                                          <p:spTgt spid="85"/>
                                        </p:tgtEl>
                                        <p:attrNameLst>
                                          <p:attrName>ppt_y</p:attrName>
                                        </p:attrNameLst>
                                      </p:cBhvr>
                                      <p:tavLst>
                                        <p:tav tm="0">
                                          <p:val>
                                            <p:strVal val="1+#ppt_h/2"/>
                                          </p:val>
                                        </p:tav>
                                        <p:tav tm="100000">
                                          <p:val>
                                            <p:strVal val="#ppt_y"/>
                                          </p:val>
                                        </p:tav>
                                      </p:tavLst>
                                    </p:anim>
                                  </p:childTnLst>
                                </p:cTn>
                              </p:par>
                              <p:par>
                                <p:cTn id="79" presetID="10" presetClass="entr" presetSubtype="0" fill="hold" grpId="0" nodeType="withEffect">
                                  <p:stCondLst>
                                    <p:cond delay="500"/>
                                  </p:stCondLst>
                                  <p:childTnLst>
                                    <p:set>
                                      <p:cBhvr>
                                        <p:cTn id="80" dur="1" fill="hold">
                                          <p:stCondLst>
                                            <p:cond delay="0"/>
                                          </p:stCondLst>
                                        </p:cTn>
                                        <p:tgtEl>
                                          <p:spTgt spid="37"/>
                                        </p:tgtEl>
                                        <p:attrNameLst>
                                          <p:attrName>style.visibility</p:attrName>
                                        </p:attrNameLst>
                                      </p:cBhvr>
                                      <p:to>
                                        <p:strVal val="visible"/>
                                      </p:to>
                                    </p:set>
                                    <p:animEffect transition="in" filter="fade">
                                      <p:cBhvr>
                                        <p:cTn id="81" dur="500"/>
                                        <p:tgtEl>
                                          <p:spTgt spid="37"/>
                                        </p:tgtEl>
                                      </p:cBhvr>
                                    </p:animEffect>
                                  </p:childTnLst>
                                </p:cTn>
                              </p:par>
                              <p:par>
                                <p:cTn id="82" presetID="2" presetClass="entr" presetSubtype="4" decel="53333" fill="hold" grpId="0" nodeType="withEffect">
                                  <p:stCondLst>
                                    <p:cond delay="500"/>
                                  </p:stCondLst>
                                  <p:childTnLst>
                                    <p:set>
                                      <p:cBhvr>
                                        <p:cTn id="83" dur="1" fill="hold">
                                          <p:stCondLst>
                                            <p:cond delay="0"/>
                                          </p:stCondLst>
                                        </p:cTn>
                                        <p:tgtEl>
                                          <p:spTgt spid="43"/>
                                        </p:tgtEl>
                                        <p:attrNameLst>
                                          <p:attrName>style.visibility</p:attrName>
                                        </p:attrNameLst>
                                      </p:cBhvr>
                                      <p:to>
                                        <p:strVal val="visible"/>
                                      </p:to>
                                    </p:set>
                                    <p:anim calcmode="lin" valueType="num">
                                      <p:cBhvr additive="base">
                                        <p:cTn id="84" dur="500" fill="hold"/>
                                        <p:tgtEl>
                                          <p:spTgt spid="43"/>
                                        </p:tgtEl>
                                        <p:attrNameLst>
                                          <p:attrName>ppt_x</p:attrName>
                                        </p:attrNameLst>
                                      </p:cBhvr>
                                      <p:tavLst>
                                        <p:tav tm="0">
                                          <p:val>
                                            <p:strVal val="#ppt_x"/>
                                          </p:val>
                                        </p:tav>
                                        <p:tav tm="100000">
                                          <p:val>
                                            <p:strVal val="#ppt_x"/>
                                          </p:val>
                                        </p:tav>
                                      </p:tavLst>
                                    </p:anim>
                                    <p:anim calcmode="lin" valueType="num">
                                      <p:cBhvr additive="base">
                                        <p:cTn id="85" dur="500" fill="hold"/>
                                        <p:tgtEl>
                                          <p:spTgt spid="43"/>
                                        </p:tgtEl>
                                        <p:attrNameLst>
                                          <p:attrName>ppt_y</p:attrName>
                                        </p:attrNameLst>
                                      </p:cBhvr>
                                      <p:tavLst>
                                        <p:tav tm="0">
                                          <p:val>
                                            <p:strVal val="1+#ppt_h/2"/>
                                          </p:val>
                                        </p:tav>
                                        <p:tav tm="100000">
                                          <p:val>
                                            <p:strVal val="#ppt_y"/>
                                          </p:val>
                                        </p:tav>
                                      </p:tavLst>
                                    </p:anim>
                                  </p:childTnLst>
                                </p:cTn>
                              </p:par>
                              <p:par>
                                <p:cTn id="86" presetID="2" presetClass="entr" presetSubtype="4" decel="53333" fill="hold" grpId="0" nodeType="withEffect">
                                  <p:stCondLst>
                                    <p:cond delay="650"/>
                                  </p:stCondLst>
                                  <p:childTnLst>
                                    <p:set>
                                      <p:cBhvr>
                                        <p:cTn id="87" dur="1" fill="hold">
                                          <p:stCondLst>
                                            <p:cond delay="0"/>
                                          </p:stCondLst>
                                        </p:cTn>
                                        <p:tgtEl>
                                          <p:spTgt spid="42"/>
                                        </p:tgtEl>
                                        <p:attrNameLst>
                                          <p:attrName>style.visibility</p:attrName>
                                        </p:attrNameLst>
                                      </p:cBhvr>
                                      <p:to>
                                        <p:strVal val="visible"/>
                                      </p:to>
                                    </p:set>
                                    <p:anim calcmode="lin" valueType="num">
                                      <p:cBhvr additive="base">
                                        <p:cTn id="88" dur="500" fill="hold"/>
                                        <p:tgtEl>
                                          <p:spTgt spid="42"/>
                                        </p:tgtEl>
                                        <p:attrNameLst>
                                          <p:attrName>ppt_x</p:attrName>
                                        </p:attrNameLst>
                                      </p:cBhvr>
                                      <p:tavLst>
                                        <p:tav tm="0">
                                          <p:val>
                                            <p:strVal val="#ppt_x"/>
                                          </p:val>
                                        </p:tav>
                                        <p:tav tm="100000">
                                          <p:val>
                                            <p:strVal val="#ppt_x"/>
                                          </p:val>
                                        </p:tav>
                                      </p:tavLst>
                                    </p:anim>
                                    <p:anim calcmode="lin" valueType="num">
                                      <p:cBhvr additive="base">
                                        <p:cTn id="89"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p:bldP spid="92" grpId="0"/>
      <p:bldP spid="81" grpId="0" animBg="1"/>
      <p:bldP spid="93" grpId="0" animBg="1"/>
      <p:bldP spid="94" grpId="0"/>
      <p:bldP spid="36" grpId="0"/>
      <p:bldP spid="39" grpId="0"/>
      <p:bldP spid="40" grpId="0"/>
      <p:bldP spid="27" grpId="0"/>
      <p:bldP spid="28" grpId="0"/>
      <p:bldP spid="99" grpId="0"/>
      <p:bldP spid="95" grpId="0"/>
      <p:bldP spid="96" grpId="0"/>
      <p:bldP spid="97" grpId="0" animBg="1"/>
      <p:bldP spid="98" grpId="0" animBg="1"/>
      <p:bldP spid="85" grpId="0" animBg="1"/>
      <p:bldP spid="89" grpId="0" animBg="1"/>
      <p:bldP spid="25" grpId="0"/>
      <p:bldP spid="37" grpId="0"/>
      <p:bldP spid="42" grpId="0"/>
      <p:bldP spid="4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AC9F701E-25F9-B7DD-80F2-0D1881D21A3F}"/>
              </a:ext>
            </a:extLst>
          </p:cNvPr>
          <p:cNvSpPr>
            <a:spLocks noGrp="1"/>
          </p:cNvSpPr>
          <p:nvPr>
            <p:ph type="title"/>
          </p:nvPr>
        </p:nvSpPr>
        <p:spPr/>
        <p:txBody>
          <a:bodyPr/>
          <a:lstStyle/>
          <a:p>
            <a:r>
              <a:rPr lang="hu-HU" dirty="0" err="1">
                <a:latin typeface="Montserrat" panose="00000500000000000000" pitchFamily="2" charset="-18"/>
              </a:rPr>
              <a:t>Gantt</a:t>
            </a:r>
            <a:r>
              <a:rPr lang="hu-HU" dirty="0">
                <a:latin typeface="Montserrat" panose="00000500000000000000" pitchFamily="2" charset="-18"/>
              </a:rPr>
              <a:t> diagram</a:t>
            </a:r>
          </a:p>
        </p:txBody>
      </p:sp>
      <p:pic>
        <p:nvPicPr>
          <p:cNvPr id="4" name="Kép 3" descr="A képen képernyőkép, sor, Diagram, szöveg látható&#10;&#10;Előfordulhat, hogy az AI által létrehozott tartalom helytelen.">
            <a:extLst>
              <a:ext uri="{FF2B5EF4-FFF2-40B4-BE49-F238E27FC236}">
                <a16:creationId xmlns:a16="http://schemas.microsoft.com/office/drawing/2014/main" id="{D915E45D-55EC-C631-24A3-FF4754CA58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743571"/>
            <a:ext cx="12192000" cy="3416403"/>
          </a:xfrm>
          <a:prstGeom prst="rect">
            <a:avLst/>
          </a:prstGeom>
        </p:spPr>
      </p:pic>
    </p:spTree>
    <p:extLst>
      <p:ext uri="{BB962C8B-B14F-4D97-AF65-F5344CB8AC3E}">
        <p14:creationId xmlns:p14="http://schemas.microsoft.com/office/powerpoint/2010/main" val="3538836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211AF4E2-2100-82AE-9FA3-FDF19E500A51}"/>
              </a:ext>
            </a:extLst>
          </p:cNvPr>
          <p:cNvSpPr>
            <a:spLocks noGrp="1"/>
          </p:cNvSpPr>
          <p:nvPr>
            <p:ph type="title"/>
          </p:nvPr>
        </p:nvSpPr>
        <p:spPr/>
        <p:txBody>
          <a:bodyPr/>
          <a:lstStyle/>
          <a:p>
            <a:r>
              <a:rPr lang="hu-HU" dirty="0" err="1">
                <a:latin typeface="Montserrat" panose="00000500000000000000" pitchFamily="2" charset="-18"/>
              </a:rPr>
              <a:t>Wireframe</a:t>
            </a:r>
            <a:endParaRPr lang="hu-HU" dirty="0">
              <a:latin typeface="Montserrat" panose="00000500000000000000" pitchFamily="2" charset="-18"/>
            </a:endParaRPr>
          </a:p>
        </p:txBody>
      </p:sp>
      <p:pic>
        <p:nvPicPr>
          <p:cNvPr id="4" name="Kép 3" descr="A képen szöveg, diagram, Műszaki rajz, Téglalap látható&#10;&#10;Előfordulhat, hogy az AI által létrehozott tartalom helytelen.">
            <a:extLst>
              <a:ext uri="{FF2B5EF4-FFF2-40B4-BE49-F238E27FC236}">
                <a16:creationId xmlns:a16="http://schemas.microsoft.com/office/drawing/2014/main" id="{171290BD-38F9-5D55-FB28-FFDE901B6863}"/>
              </a:ext>
            </a:extLst>
          </p:cNvPr>
          <p:cNvPicPr>
            <a:picLocks noChangeAspect="1"/>
          </p:cNvPicPr>
          <p:nvPr/>
        </p:nvPicPr>
        <p:blipFill>
          <a:blip r:embed="rId2"/>
          <a:stretch>
            <a:fillRect/>
          </a:stretch>
        </p:blipFill>
        <p:spPr>
          <a:xfrm>
            <a:off x="1464877" y="2011680"/>
            <a:ext cx="8852603" cy="4535593"/>
          </a:xfrm>
          <a:prstGeom prst="rect">
            <a:avLst/>
          </a:prstGeom>
        </p:spPr>
      </p:pic>
    </p:spTree>
    <p:extLst>
      <p:ext uri="{BB962C8B-B14F-4D97-AF65-F5344CB8AC3E}">
        <p14:creationId xmlns:p14="http://schemas.microsoft.com/office/powerpoint/2010/main" val="2389072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7EF01593-0B6B-B035-325B-6ABD2776C307}"/>
              </a:ext>
            </a:extLst>
          </p:cNvPr>
          <p:cNvSpPr>
            <a:spLocks noGrp="1"/>
          </p:cNvSpPr>
          <p:nvPr>
            <p:ph type="title"/>
          </p:nvPr>
        </p:nvSpPr>
        <p:spPr>
          <a:xfrm>
            <a:off x="958671" y="2612801"/>
            <a:ext cx="10274657" cy="1632397"/>
          </a:xfrm>
        </p:spPr>
        <p:txBody>
          <a:bodyPr>
            <a:normAutofit fontScale="90000"/>
          </a:bodyPr>
          <a:lstStyle/>
          <a:p>
            <a:r>
              <a:rPr lang="hu-HU" sz="8000" dirty="0">
                <a:latin typeface="Montserrat" panose="00000500000000000000" pitchFamily="2" charset="-18"/>
              </a:rPr>
              <a:t>Arculat design </a:t>
            </a:r>
            <a:r>
              <a:rPr lang="hu-HU" sz="8000" dirty="0" err="1">
                <a:latin typeface="Montserrat" panose="00000500000000000000" pitchFamily="2" charset="-18"/>
              </a:rPr>
              <a:t>guide</a:t>
            </a:r>
            <a:endParaRPr lang="hu-HU" sz="8000" dirty="0">
              <a:latin typeface="Montserrat" panose="00000500000000000000" pitchFamily="2" charset="-18"/>
            </a:endParaRPr>
          </a:p>
        </p:txBody>
      </p:sp>
    </p:spTree>
    <p:extLst>
      <p:ext uri="{BB962C8B-B14F-4D97-AF65-F5344CB8AC3E}">
        <p14:creationId xmlns:p14="http://schemas.microsoft.com/office/powerpoint/2010/main" val="40882335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Ellipszis 8">
            <a:extLst>
              <a:ext uri="{FF2B5EF4-FFF2-40B4-BE49-F238E27FC236}">
                <a16:creationId xmlns:a16="http://schemas.microsoft.com/office/drawing/2014/main" id="{B414BDAD-30C9-EFC7-1755-89FB684D684A}"/>
              </a:ext>
            </a:extLst>
          </p:cNvPr>
          <p:cNvSpPr/>
          <p:nvPr/>
        </p:nvSpPr>
        <p:spPr>
          <a:xfrm>
            <a:off x="5996855" y="1410237"/>
            <a:ext cx="5306095" cy="5306095"/>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
        <p:nvSpPr>
          <p:cNvPr id="2" name="Cím 1">
            <a:extLst>
              <a:ext uri="{FF2B5EF4-FFF2-40B4-BE49-F238E27FC236}">
                <a16:creationId xmlns:a16="http://schemas.microsoft.com/office/drawing/2014/main" id="{4D15DB0F-3D64-569C-C47B-6200024C51CD}"/>
              </a:ext>
            </a:extLst>
          </p:cNvPr>
          <p:cNvSpPr>
            <a:spLocks noGrp="1"/>
          </p:cNvSpPr>
          <p:nvPr>
            <p:ph type="title"/>
          </p:nvPr>
        </p:nvSpPr>
        <p:spPr>
          <a:xfrm>
            <a:off x="2004405" y="1196178"/>
            <a:ext cx="7087135" cy="711454"/>
          </a:xfrm>
        </p:spPr>
        <p:txBody>
          <a:bodyPr/>
          <a:lstStyle/>
          <a:p>
            <a:r>
              <a:rPr lang="hu-HU" dirty="0">
                <a:latin typeface="Montserrat" panose="00000500000000000000" pitchFamily="2" charset="-18"/>
              </a:rPr>
              <a:t>Logók</a:t>
            </a:r>
          </a:p>
        </p:txBody>
      </p:sp>
      <p:pic>
        <p:nvPicPr>
          <p:cNvPr id="5" name="Ábra 4">
            <a:extLst>
              <a:ext uri="{FF2B5EF4-FFF2-40B4-BE49-F238E27FC236}">
                <a16:creationId xmlns:a16="http://schemas.microsoft.com/office/drawing/2014/main" id="{2578BB54-4CB7-C644-96F7-C4B3938388E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20902" y="634284"/>
            <a:ext cx="6858000" cy="6858000"/>
          </a:xfrm>
          <a:prstGeom prst="rect">
            <a:avLst/>
          </a:prstGeom>
        </p:spPr>
      </p:pic>
      <p:pic>
        <p:nvPicPr>
          <p:cNvPr id="7" name="Ábra 6">
            <a:extLst>
              <a:ext uri="{FF2B5EF4-FFF2-40B4-BE49-F238E27FC236}">
                <a16:creationId xmlns:a16="http://schemas.microsoft.com/office/drawing/2014/main" id="{9100729D-17BC-81CD-C488-44CCAC92A6E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20710" y="775952"/>
            <a:ext cx="6858000" cy="6858000"/>
          </a:xfrm>
          <a:prstGeom prst="rect">
            <a:avLst/>
          </a:prstGeom>
        </p:spPr>
      </p:pic>
    </p:spTree>
    <p:extLst>
      <p:ext uri="{BB962C8B-B14F-4D97-AF65-F5344CB8AC3E}">
        <p14:creationId xmlns:p14="http://schemas.microsoft.com/office/powerpoint/2010/main" val="35883385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E5B99551-B982-2EFF-9B9A-BBDAF6056BB4}"/>
              </a:ext>
            </a:extLst>
          </p:cNvPr>
          <p:cNvSpPr>
            <a:spLocks noGrp="1"/>
          </p:cNvSpPr>
          <p:nvPr>
            <p:ph type="title"/>
          </p:nvPr>
        </p:nvSpPr>
        <p:spPr/>
        <p:txBody>
          <a:bodyPr/>
          <a:lstStyle/>
          <a:p>
            <a:r>
              <a:rPr lang="hu-HU" dirty="0">
                <a:latin typeface="Montserrat" panose="00000500000000000000" pitchFamily="2" charset="-18"/>
              </a:rPr>
              <a:t>Színpaletta</a:t>
            </a:r>
          </a:p>
        </p:txBody>
      </p:sp>
      <p:sp>
        <p:nvSpPr>
          <p:cNvPr id="4" name="Freeform 5">
            <a:extLst>
              <a:ext uri="{FF2B5EF4-FFF2-40B4-BE49-F238E27FC236}">
                <a16:creationId xmlns:a16="http://schemas.microsoft.com/office/drawing/2014/main" id="{613DC5CD-693B-E391-B34B-7CD5D5976E8D}"/>
              </a:ext>
            </a:extLst>
          </p:cNvPr>
          <p:cNvSpPr>
            <a:spLocks/>
          </p:cNvSpPr>
          <p:nvPr/>
        </p:nvSpPr>
        <p:spPr bwMode="auto">
          <a:xfrm>
            <a:off x="1236761" y="2348331"/>
            <a:ext cx="1704568" cy="1704568"/>
          </a:xfrm>
          <a:custGeom>
            <a:avLst/>
            <a:gdLst>
              <a:gd name="T0" fmla="*/ 892 w 1784"/>
              <a:gd name="T1" fmla="*/ 1784 h 1784"/>
              <a:gd name="T2" fmla="*/ 261 w 1784"/>
              <a:gd name="T3" fmla="*/ 1522 h 1784"/>
              <a:gd name="T4" fmla="*/ 0 w 1784"/>
              <a:gd name="T5" fmla="*/ 892 h 1784"/>
              <a:gd name="T6" fmla="*/ 261 w 1784"/>
              <a:gd name="T7" fmla="*/ 261 h 1784"/>
              <a:gd name="T8" fmla="*/ 892 w 1784"/>
              <a:gd name="T9" fmla="*/ 0 h 1784"/>
              <a:gd name="T10" fmla="*/ 1523 w 1784"/>
              <a:gd name="T11" fmla="*/ 261 h 1784"/>
              <a:gd name="T12" fmla="*/ 1784 w 1784"/>
              <a:gd name="T13" fmla="*/ 892 h 1784"/>
              <a:gd name="T14" fmla="*/ 1523 w 1784"/>
              <a:gd name="T15" fmla="*/ 1522 h 1784"/>
              <a:gd name="T16" fmla="*/ 892 w 1784"/>
              <a:gd name="T17" fmla="*/ 1784 h 17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84" h="1784">
                <a:moveTo>
                  <a:pt x="892" y="1784"/>
                </a:moveTo>
                <a:cubicBezTo>
                  <a:pt x="654" y="1784"/>
                  <a:pt x="430" y="1691"/>
                  <a:pt x="261" y="1522"/>
                </a:cubicBezTo>
                <a:cubicBezTo>
                  <a:pt x="93" y="1354"/>
                  <a:pt x="0" y="1130"/>
                  <a:pt x="0" y="892"/>
                </a:cubicBezTo>
                <a:cubicBezTo>
                  <a:pt x="0" y="654"/>
                  <a:pt x="93" y="430"/>
                  <a:pt x="261" y="261"/>
                </a:cubicBezTo>
                <a:cubicBezTo>
                  <a:pt x="430" y="93"/>
                  <a:pt x="654" y="0"/>
                  <a:pt x="892" y="0"/>
                </a:cubicBezTo>
                <a:cubicBezTo>
                  <a:pt x="1130" y="0"/>
                  <a:pt x="1354" y="93"/>
                  <a:pt x="1523" y="261"/>
                </a:cubicBezTo>
                <a:cubicBezTo>
                  <a:pt x="1691" y="430"/>
                  <a:pt x="1784" y="654"/>
                  <a:pt x="1784" y="892"/>
                </a:cubicBezTo>
                <a:cubicBezTo>
                  <a:pt x="1784" y="1130"/>
                  <a:pt x="1691" y="1354"/>
                  <a:pt x="1523" y="1522"/>
                </a:cubicBezTo>
                <a:cubicBezTo>
                  <a:pt x="1354" y="1691"/>
                  <a:pt x="1130" y="1784"/>
                  <a:pt x="892" y="1784"/>
                </a:cubicBezTo>
                <a:close/>
              </a:path>
            </a:pathLst>
          </a:custGeom>
          <a:solidFill>
            <a:schemeClr val="bg1"/>
          </a:solidFill>
          <a:ln>
            <a:noFill/>
          </a:ln>
          <a:effectLst>
            <a:outerShdw blurRad="1524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Oval 45">
            <a:extLst>
              <a:ext uri="{FF2B5EF4-FFF2-40B4-BE49-F238E27FC236}">
                <a16:creationId xmlns:a16="http://schemas.microsoft.com/office/drawing/2014/main" id="{95FAE627-E920-70B1-3A3A-ED91CE894040}"/>
              </a:ext>
            </a:extLst>
          </p:cNvPr>
          <p:cNvSpPr/>
          <p:nvPr/>
        </p:nvSpPr>
        <p:spPr>
          <a:xfrm>
            <a:off x="1388295" y="2498173"/>
            <a:ext cx="1401500" cy="1401500"/>
          </a:xfrm>
          <a:prstGeom prst="ellipse">
            <a:avLst/>
          </a:prstGeom>
          <a:solidFill>
            <a:schemeClr val="bg1"/>
          </a:solidFill>
          <a:ln>
            <a:noFill/>
          </a:ln>
          <a:effectLst>
            <a:outerShdw blurRad="1524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Oval 49">
            <a:extLst>
              <a:ext uri="{FF2B5EF4-FFF2-40B4-BE49-F238E27FC236}">
                <a16:creationId xmlns:a16="http://schemas.microsoft.com/office/drawing/2014/main" id="{1BAD7F67-1ECA-752F-40B6-89AA75F91AE2}"/>
              </a:ext>
            </a:extLst>
          </p:cNvPr>
          <p:cNvSpPr/>
          <p:nvPr/>
        </p:nvSpPr>
        <p:spPr>
          <a:xfrm>
            <a:off x="1531908" y="2641786"/>
            <a:ext cx="1114274" cy="111427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5">
            <a:extLst>
              <a:ext uri="{FF2B5EF4-FFF2-40B4-BE49-F238E27FC236}">
                <a16:creationId xmlns:a16="http://schemas.microsoft.com/office/drawing/2014/main" id="{FFC88AED-0705-0A6F-B537-F4F2F3FA4785}"/>
              </a:ext>
            </a:extLst>
          </p:cNvPr>
          <p:cNvSpPr>
            <a:spLocks/>
          </p:cNvSpPr>
          <p:nvPr/>
        </p:nvSpPr>
        <p:spPr bwMode="auto">
          <a:xfrm>
            <a:off x="3240239" y="2346638"/>
            <a:ext cx="1704568" cy="1704568"/>
          </a:xfrm>
          <a:custGeom>
            <a:avLst/>
            <a:gdLst>
              <a:gd name="T0" fmla="*/ 892 w 1784"/>
              <a:gd name="T1" fmla="*/ 1784 h 1784"/>
              <a:gd name="T2" fmla="*/ 261 w 1784"/>
              <a:gd name="T3" fmla="*/ 1522 h 1784"/>
              <a:gd name="T4" fmla="*/ 0 w 1784"/>
              <a:gd name="T5" fmla="*/ 892 h 1784"/>
              <a:gd name="T6" fmla="*/ 261 w 1784"/>
              <a:gd name="T7" fmla="*/ 261 h 1784"/>
              <a:gd name="T8" fmla="*/ 892 w 1784"/>
              <a:gd name="T9" fmla="*/ 0 h 1784"/>
              <a:gd name="T10" fmla="*/ 1523 w 1784"/>
              <a:gd name="T11" fmla="*/ 261 h 1784"/>
              <a:gd name="T12" fmla="*/ 1784 w 1784"/>
              <a:gd name="T13" fmla="*/ 892 h 1784"/>
              <a:gd name="T14" fmla="*/ 1523 w 1784"/>
              <a:gd name="T15" fmla="*/ 1522 h 1784"/>
              <a:gd name="T16" fmla="*/ 892 w 1784"/>
              <a:gd name="T17" fmla="*/ 1784 h 17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84" h="1784">
                <a:moveTo>
                  <a:pt x="892" y="1784"/>
                </a:moveTo>
                <a:cubicBezTo>
                  <a:pt x="654" y="1784"/>
                  <a:pt x="430" y="1691"/>
                  <a:pt x="261" y="1522"/>
                </a:cubicBezTo>
                <a:cubicBezTo>
                  <a:pt x="93" y="1354"/>
                  <a:pt x="0" y="1130"/>
                  <a:pt x="0" y="892"/>
                </a:cubicBezTo>
                <a:cubicBezTo>
                  <a:pt x="0" y="654"/>
                  <a:pt x="93" y="430"/>
                  <a:pt x="261" y="261"/>
                </a:cubicBezTo>
                <a:cubicBezTo>
                  <a:pt x="430" y="93"/>
                  <a:pt x="654" y="0"/>
                  <a:pt x="892" y="0"/>
                </a:cubicBezTo>
                <a:cubicBezTo>
                  <a:pt x="1130" y="0"/>
                  <a:pt x="1354" y="93"/>
                  <a:pt x="1523" y="261"/>
                </a:cubicBezTo>
                <a:cubicBezTo>
                  <a:pt x="1691" y="430"/>
                  <a:pt x="1784" y="654"/>
                  <a:pt x="1784" y="892"/>
                </a:cubicBezTo>
                <a:cubicBezTo>
                  <a:pt x="1784" y="1130"/>
                  <a:pt x="1691" y="1354"/>
                  <a:pt x="1523" y="1522"/>
                </a:cubicBezTo>
                <a:cubicBezTo>
                  <a:pt x="1354" y="1691"/>
                  <a:pt x="1130" y="1784"/>
                  <a:pt x="892" y="1784"/>
                </a:cubicBezTo>
                <a:close/>
              </a:path>
            </a:pathLst>
          </a:custGeom>
          <a:solidFill>
            <a:schemeClr val="bg1"/>
          </a:solidFill>
          <a:ln>
            <a:noFill/>
          </a:ln>
          <a:effectLst>
            <a:outerShdw blurRad="1524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Oval 51">
            <a:extLst>
              <a:ext uri="{FF2B5EF4-FFF2-40B4-BE49-F238E27FC236}">
                <a16:creationId xmlns:a16="http://schemas.microsoft.com/office/drawing/2014/main" id="{43C9236F-42D7-0915-3CBE-B2CB04291EC9}"/>
              </a:ext>
            </a:extLst>
          </p:cNvPr>
          <p:cNvSpPr/>
          <p:nvPr/>
        </p:nvSpPr>
        <p:spPr>
          <a:xfrm>
            <a:off x="3391773" y="2496480"/>
            <a:ext cx="1401500" cy="1401500"/>
          </a:xfrm>
          <a:prstGeom prst="ellipse">
            <a:avLst/>
          </a:prstGeom>
          <a:solidFill>
            <a:schemeClr val="bg1"/>
          </a:solidFill>
          <a:ln>
            <a:noFill/>
          </a:ln>
          <a:effectLst>
            <a:outerShdw blurRad="1524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Oval 52">
            <a:extLst>
              <a:ext uri="{FF2B5EF4-FFF2-40B4-BE49-F238E27FC236}">
                <a16:creationId xmlns:a16="http://schemas.microsoft.com/office/drawing/2014/main" id="{031D03D0-D9CA-9F7A-EFC1-012B76E1639D}"/>
              </a:ext>
            </a:extLst>
          </p:cNvPr>
          <p:cNvSpPr/>
          <p:nvPr/>
        </p:nvSpPr>
        <p:spPr>
          <a:xfrm>
            <a:off x="3535386" y="2640093"/>
            <a:ext cx="1114274" cy="111427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5">
            <a:extLst>
              <a:ext uri="{FF2B5EF4-FFF2-40B4-BE49-F238E27FC236}">
                <a16:creationId xmlns:a16="http://schemas.microsoft.com/office/drawing/2014/main" id="{45D8553C-C699-2367-1D09-430E918428D4}"/>
              </a:ext>
            </a:extLst>
          </p:cNvPr>
          <p:cNvSpPr>
            <a:spLocks/>
          </p:cNvSpPr>
          <p:nvPr/>
        </p:nvSpPr>
        <p:spPr bwMode="auto">
          <a:xfrm>
            <a:off x="7247195" y="2343253"/>
            <a:ext cx="1704568" cy="1704568"/>
          </a:xfrm>
          <a:custGeom>
            <a:avLst/>
            <a:gdLst>
              <a:gd name="T0" fmla="*/ 892 w 1784"/>
              <a:gd name="T1" fmla="*/ 1784 h 1784"/>
              <a:gd name="T2" fmla="*/ 261 w 1784"/>
              <a:gd name="T3" fmla="*/ 1522 h 1784"/>
              <a:gd name="T4" fmla="*/ 0 w 1784"/>
              <a:gd name="T5" fmla="*/ 892 h 1784"/>
              <a:gd name="T6" fmla="*/ 261 w 1784"/>
              <a:gd name="T7" fmla="*/ 261 h 1784"/>
              <a:gd name="T8" fmla="*/ 892 w 1784"/>
              <a:gd name="T9" fmla="*/ 0 h 1784"/>
              <a:gd name="T10" fmla="*/ 1523 w 1784"/>
              <a:gd name="T11" fmla="*/ 261 h 1784"/>
              <a:gd name="T12" fmla="*/ 1784 w 1784"/>
              <a:gd name="T13" fmla="*/ 892 h 1784"/>
              <a:gd name="T14" fmla="*/ 1523 w 1784"/>
              <a:gd name="T15" fmla="*/ 1522 h 1784"/>
              <a:gd name="T16" fmla="*/ 892 w 1784"/>
              <a:gd name="T17" fmla="*/ 1784 h 17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84" h="1784">
                <a:moveTo>
                  <a:pt x="892" y="1784"/>
                </a:moveTo>
                <a:cubicBezTo>
                  <a:pt x="654" y="1784"/>
                  <a:pt x="430" y="1691"/>
                  <a:pt x="261" y="1522"/>
                </a:cubicBezTo>
                <a:cubicBezTo>
                  <a:pt x="93" y="1354"/>
                  <a:pt x="0" y="1130"/>
                  <a:pt x="0" y="892"/>
                </a:cubicBezTo>
                <a:cubicBezTo>
                  <a:pt x="0" y="654"/>
                  <a:pt x="93" y="430"/>
                  <a:pt x="261" y="261"/>
                </a:cubicBezTo>
                <a:cubicBezTo>
                  <a:pt x="430" y="93"/>
                  <a:pt x="654" y="0"/>
                  <a:pt x="892" y="0"/>
                </a:cubicBezTo>
                <a:cubicBezTo>
                  <a:pt x="1130" y="0"/>
                  <a:pt x="1354" y="93"/>
                  <a:pt x="1523" y="261"/>
                </a:cubicBezTo>
                <a:cubicBezTo>
                  <a:pt x="1691" y="430"/>
                  <a:pt x="1784" y="654"/>
                  <a:pt x="1784" y="892"/>
                </a:cubicBezTo>
                <a:cubicBezTo>
                  <a:pt x="1784" y="1130"/>
                  <a:pt x="1691" y="1354"/>
                  <a:pt x="1523" y="1522"/>
                </a:cubicBezTo>
                <a:cubicBezTo>
                  <a:pt x="1354" y="1691"/>
                  <a:pt x="1130" y="1784"/>
                  <a:pt x="892" y="1784"/>
                </a:cubicBezTo>
                <a:close/>
              </a:path>
            </a:pathLst>
          </a:custGeom>
          <a:solidFill>
            <a:schemeClr val="bg1"/>
          </a:solidFill>
          <a:ln>
            <a:noFill/>
          </a:ln>
          <a:effectLst>
            <a:outerShdw blurRad="1524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Oval 54">
            <a:extLst>
              <a:ext uri="{FF2B5EF4-FFF2-40B4-BE49-F238E27FC236}">
                <a16:creationId xmlns:a16="http://schemas.microsoft.com/office/drawing/2014/main" id="{CCEC9820-B6A2-4960-C3F0-2010F200D6A7}"/>
              </a:ext>
            </a:extLst>
          </p:cNvPr>
          <p:cNvSpPr/>
          <p:nvPr/>
        </p:nvSpPr>
        <p:spPr>
          <a:xfrm>
            <a:off x="7398729" y="2493095"/>
            <a:ext cx="1401500" cy="1401500"/>
          </a:xfrm>
          <a:prstGeom prst="ellipse">
            <a:avLst/>
          </a:prstGeom>
          <a:solidFill>
            <a:schemeClr val="bg1"/>
          </a:solidFill>
          <a:ln>
            <a:noFill/>
          </a:ln>
          <a:effectLst>
            <a:outerShdw blurRad="1524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Oval 55">
            <a:extLst>
              <a:ext uri="{FF2B5EF4-FFF2-40B4-BE49-F238E27FC236}">
                <a16:creationId xmlns:a16="http://schemas.microsoft.com/office/drawing/2014/main" id="{692E475C-BBB3-BDE9-651B-0EE3F2E49533}"/>
              </a:ext>
            </a:extLst>
          </p:cNvPr>
          <p:cNvSpPr/>
          <p:nvPr/>
        </p:nvSpPr>
        <p:spPr>
          <a:xfrm>
            <a:off x="7542342" y="2636708"/>
            <a:ext cx="1114274" cy="1114274"/>
          </a:xfrm>
          <a:prstGeom prst="ellipse">
            <a:avLst/>
          </a:prstGeom>
          <a:solidFill>
            <a:srgbClr val="00FFFF"/>
          </a:solid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5">
            <a:extLst>
              <a:ext uri="{FF2B5EF4-FFF2-40B4-BE49-F238E27FC236}">
                <a16:creationId xmlns:a16="http://schemas.microsoft.com/office/drawing/2014/main" id="{DC4322F5-6833-1038-09FF-32C980185417}"/>
              </a:ext>
            </a:extLst>
          </p:cNvPr>
          <p:cNvSpPr>
            <a:spLocks/>
          </p:cNvSpPr>
          <p:nvPr/>
        </p:nvSpPr>
        <p:spPr bwMode="auto">
          <a:xfrm>
            <a:off x="9250671" y="2341561"/>
            <a:ext cx="1704568" cy="1704568"/>
          </a:xfrm>
          <a:custGeom>
            <a:avLst/>
            <a:gdLst>
              <a:gd name="T0" fmla="*/ 892 w 1784"/>
              <a:gd name="T1" fmla="*/ 1784 h 1784"/>
              <a:gd name="T2" fmla="*/ 261 w 1784"/>
              <a:gd name="T3" fmla="*/ 1522 h 1784"/>
              <a:gd name="T4" fmla="*/ 0 w 1784"/>
              <a:gd name="T5" fmla="*/ 892 h 1784"/>
              <a:gd name="T6" fmla="*/ 261 w 1784"/>
              <a:gd name="T7" fmla="*/ 261 h 1784"/>
              <a:gd name="T8" fmla="*/ 892 w 1784"/>
              <a:gd name="T9" fmla="*/ 0 h 1784"/>
              <a:gd name="T10" fmla="*/ 1523 w 1784"/>
              <a:gd name="T11" fmla="*/ 261 h 1784"/>
              <a:gd name="T12" fmla="*/ 1784 w 1784"/>
              <a:gd name="T13" fmla="*/ 892 h 1784"/>
              <a:gd name="T14" fmla="*/ 1523 w 1784"/>
              <a:gd name="T15" fmla="*/ 1522 h 1784"/>
              <a:gd name="T16" fmla="*/ 892 w 1784"/>
              <a:gd name="T17" fmla="*/ 1784 h 17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84" h="1784">
                <a:moveTo>
                  <a:pt x="892" y="1784"/>
                </a:moveTo>
                <a:cubicBezTo>
                  <a:pt x="654" y="1784"/>
                  <a:pt x="430" y="1691"/>
                  <a:pt x="261" y="1522"/>
                </a:cubicBezTo>
                <a:cubicBezTo>
                  <a:pt x="93" y="1354"/>
                  <a:pt x="0" y="1130"/>
                  <a:pt x="0" y="892"/>
                </a:cubicBezTo>
                <a:cubicBezTo>
                  <a:pt x="0" y="654"/>
                  <a:pt x="93" y="430"/>
                  <a:pt x="261" y="261"/>
                </a:cubicBezTo>
                <a:cubicBezTo>
                  <a:pt x="430" y="93"/>
                  <a:pt x="654" y="0"/>
                  <a:pt x="892" y="0"/>
                </a:cubicBezTo>
                <a:cubicBezTo>
                  <a:pt x="1130" y="0"/>
                  <a:pt x="1354" y="93"/>
                  <a:pt x="1523" y="261"/>
                </a:cubicBezTo>
                <a:cubicBezTo>
                  <a:pt x="1691" y="430"/>
                  <a:pt x="1784" y="654"/>
                  <a:pt x="1784" y="892"/>
                </a:cubicBezTo>
                <a:cubicBezTo>
                  <a:pt x="1784" y="1130"/>
                  <a:pt x="1691" y="1354"/>
                  <a:pt x="1523" y="1522"/>
                </a:cubicBezTo>
                <a:cubicBezTo>
                  <a:pt x="1354" y="1691"/>
                  <a:pt x="1130" y="1784"/>
                  <a:pt x="892" y="1784"/>
                </a:cubicBezTo>
                <a:close/>
              </a:path>
            </a:pathLst>
          </a:custGeom>
          <a:solidFill>
            <a:schemeClr val="bg1"/>
          </a:solidFill>
          <a:ln>
            <a:noFill/>
          </a:ln>
          <a:effectLst>
            <a:outerShdw blurRad="1524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Oval 57">
            <a:extLst>
              <a:ext uri="{FF2B5EF4-FFF2-40B4-BE49-F238E27FC236}">
                <a16:creationId xmlns:a16="http://schemas.microsoft.com/office/drawing/2014/main" id="{ECAE1546-3AB9-9C24-8032-CAEFC35A5EB5}"/>
              </a:ext>
            </a:extLst>
          </p:cNvPr>
          <p:cNvSpPr/>
          <p:nvPr/>
        </p:nvSpPr>
        <p:spPr>
          <a:xfrm>
            <a:off x="9402205" y="2491403"/>
            <a:ext cx="1401500" cy="1401500"/>
          </a:xfrm>
          <a:prstGeom prst="ellipse">
            <a:avLst/>
          </a:prstGeom>
          <a:solidFill>
            <a:schemeClr val="bg1"/>
          </a:solidFill>
          <a:ln>
            <a:noFill/>
          </a:ln>
          <a:effectLst>
            <a:outerShdw blurRad="1524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Oval 58">
            <a:extLst>
              <a:ext uri="{FF2B5EF4-FFF2-40B4-BE49-F238E27FC236}">
                <a16:creationId xmlns:a16="http://schemas.microsoft.com/office/drawing/2014/main" id="{45E8685F-E7BC-6B0F-009A-F07423DE2665}"/>
              </a:ext>
            </a:extLst>
          </p:cNvPr>
          <p:cNvSpPr/>
          <p:nvPr/>
        </p:nvSpPr>
        <p:spPr>
          <a:xfrm>
            <a:off x="9545818" y="2635016"/>
            <a:ext cx="1114274" cy="1114274"/>
          </a:xfrm>
          <a:prstGeom prst="ellipse">
            <a:avLst/>
          </a:prstGeom>
          <a:solidFill>
            <a:srgbClr val="FF00FF"/>
          </a:solid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5">
            <a:extLst>
              <a:ext uri="{FF2B5EF4-FFF2-40B4-BE49-F238E27FC236}">
                <a16:creationId xmlns:a16="http://schemas.microsoft.com/office/drawing/2014/main" id="{7D5439FC-FE66-4650-D83E-FC8636E76659}"/>
              </a:ext>
            </a:extLst>
          </p:cNvPr>
          <p:cNvSpPr>
            <a:spLocks/>
          </p:cNvSpPr>
          <p:nvPr/>
        </p:nvSpPr>
        <p:spPr bwMode="auto">
          <a:xfrm>
            <a:off x="5237588" y="2344946"/>
            <a:ext cx="1704568" cy="1704568"/>
          </a:xfrm>
          <a:custGeom>
            <a:avLst/>
            <a:gdLst>
              <a:gd name="T0" fmla="*/ 892 w 1784"/>
              <a:gd name="T1" fmla="*/ 1784 h 1784"/>
              <a:gd name="T2" fmla="*/ 261 w 1784"/>
              <a:gd name="T3" fmla="*/ 1522 h 1784"/>
              <a:gd name="T4" fmla="*/ 0 w 1784"/>
              <a:gd name="T5" fmla="*/ 892 h 1784"/>
              <a:gd name="T6" fmla="*/ 261 w 1784"/>
              <a:gd name="T7" fmla="*/ 261 h 1784"/>
              <a:gd name="T8" fmla="*/ 892 w 1784"/>
              <a:gd name="T9" fmla="*/ 0 h 1784"/>
              <a:gd name="T10" fmla="*/ 1523 w 1784"/>
              <a:gd name="T11" fmla="*/ 261 h 1784"/>
              <a:gd name="T12" fmla="*/ 1784 w 1784"/>
              <a:gd name="T13" fmla="*/ 892 h 1784"/>
              <a:gd name="T14" fmla="*/ 1523 w 1784"/>
              <a:gd name="T15" fmla="*/ 1522 h 1784"/>
              <a:gd name="T16" fmla="*/ 892 w 1784"/>
              <a:gd name="T17" fmla="*/ 1784 h 17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84" h="1784">
                <a:moveTo>
                  <a:pt x="892" y="1784"/>
                </a:moveTo>
                <a:cubicBezTo>
                  <a:pt x="654" y="1784"/>
                  <a:pt x="430" y="1691"/>
                  <a:pt x="261" y="1522"/>
                </a:cubicBezTo>
                <a:cubicBezTo>
                  <a:pt x="93" y="1354"/>
                  <a:pt x="0" y="1130"/>
                  <a:pt x="0" y="892"/>
                </a:cubicBezTo>
                <a:cubicBezTo>
                  <a:pt x="0" y="654"/>
                  <a:pt x="93" y="430"/>
                  <a:pt x="261" y="261"/>
                </a:cubicBezTo>
                <a:cubicBezTo>
                  <a:pt x="430" y="93"/>
                  <a:pt x="654" y="0"/>
                  <a:pt x="892" y="0"/>
                </a:cubicBezTo>
                <a:cubicBezTo>
                  <a:pt x="1130" y="0"/>
                  <a:pt x="1354" y="93"/>
                  <a:pt x="1523" y="261"/>
                </a:cubicBezTo>
                <a:cubicBezTo>
                  <a:pt x="1691" y="430"/>
                  <a:pt x="1784" y="654"/>
                  <a:pt x="1784" y="892"/>
                </a:cubicBezTo>
                <a:cubicBezTo>
                  <a:pt x="1784" y="1130"/>
                  <a:pt x="1691" y="1354"/>
                  <a:pt x="1523" y="1522"/>
                </a:cubicBezTo>
                <a:cubicBezTo>
                  <a:pt x="1354" y="1691"/>
                  <a:pt x="1130" y="1784"/>
                  <a:pt x="892" y="1784"/>
                </a:cubicBezTo>
                <a:close/>
              </a:path>
            </a:pathLst>
          </a:custGeom>
          <a:solidFill>
            <a:schemeClr val="bg1"/>
          </a:solidFill>
          <a:ln>
            <a:noFill/>
          </a:ln>
          <a:effectLst>
            <a:outerShdw blurRad="1524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Oval 60">
            <a:extLst>
              <a:ext uri="{FF2B5EF4-FFF2-40B4-BE49-F238E27FC236}">
                <a16:creationId xmlns:a16="http://schemas.microsoft.com/office/drawing/2014/main" id="{FBD07944-0635-CDD3-C13E-B286FB5209CE}"/>
              </a:ext>
            </a:extLst>
          </p:cNvPr>
          <p:cNvSpPr/>
          <p:nvPr/>
        </p:nvSpPr>
        <p:spPr>
          <a:xfrm>
            <a:off x="5389122" y="2494788"/>
            <a:ext cx="1401500" cy="1401500"/>
          </a:xfrm>
          <a:prstGeom prst="ellipse">
            <a:avLst/>
          </a:prstGeom>
          <a:solidFill>
            <a:schemeClr val="bg1"/>
          </a:solidFill>
          <a:ln>
            <a:noFill/>
          </a:ln>
          <a:effectLst>
            <a:outerShdw blurRad="1524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Oval 61">
            <a:extLst>
              <a:ext uri="{FF2B5EF4-FFF2-40B4-BE49-F238E27FC236}">
                <a16:creationId xmlns:a16="http://schemas.microsoft.com/office/drawing/2014/main" id="{18B9EE15-12C2-576F-D907-5D449534B533}"/>
              </a:ext>
            </a:extLst>
          </p:cNvPr>
          <p:cNvSpPr/>
          <p:nvPr/>
        </p:nvSpPr>
        <p:spPr>
          <a:xfrm>
            <a:off x="5532735" y="2638401"/>
            <a:ext cx="1114274" cy="1114274"/>
          </a:xfrm>
          <a:prstGeom prst="ellipse">
            <a:avLst/>
          </a:prstGeom>
          <a:solidFill>
            <a:srgbClr val="5D28FE"/>
          </a:solidFill>
          <a:ln>
            <a:solidFill>
              <a:srgbClr val="5D28F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Szövegdoboz 98">
            <a:extLst>
              <a:ext uri="{FF2B5EF4-FFF2-40B4-BE49-F238E27FC236}">
                <a16:creationId xmlns:a16="http://schemas.microsoft.com/office/drawing/2014/main" id="{2E92D029-3B1D-D38C-9006-DEB84121215F}"/>
              </a:ext>
            </a:extLst>
          </p:cNvPr>
          <p:cNvSpPr txBox="1"/>
          <p:nvPr/>
        </p:nvSpPr>
        <p:spPr>
          <a:xfrm>
            <a:off x="1236761" y="4370231"/>
            <a:ext cx="1704568" cy="369332"/>
          </a:xfrm>
          <a:prstGeom prst="rect">
            <a:avLst/>
          </a:prstGeom>
          <a:noFill/>
        </p:spPr>
        <p:txBody>
          <a:bodyPr wrap="square" rtlCol="0">
            <a:spAutoFit/>
          </a:bodyPr>
          <a:lstStyle/>
          <a:p>
            <a:pPr algn="ctr"/>
            <a:r>
              <a:rPr lang="hu-HU" b="1" dirty="0">
                <a:latin typeface="Montserrat" panose="00000500000000000000" pitchFamily="2" charset="-18"/>
              </a:rPr>
              <a:t>#</a:t>
            </a:r>
            <a:r>
              <a:rPr lang="en-US" b="1" dirty="0">
                <a:latin typeface="Montserrat" panose="00000500000000000000" pitchFamily="2" charset="-18"/>
              </a:rPr>
              <a:t>000000</a:t>
            </a:r>
            <a:endParaRPr lang="hu-HU" b="1" dirty="0">
              <a:latin typeface="Montserrat" panose="00000500000000000000" pitchFamily="2" charset="-18"/>
            </a:endParaRPr>
          </a:p>
        </p:txBody>
      </p:sp>
      <p:sp>
        <p:nvSpPr>
          <p:cNvPr id="100" name="Szövegdoboz 99">
            <a:extLst>
              <a:ext uri="{FF2B5EF4-FFF2-40B4-BE49-F238E27FC236}">
                <a16:creationId xmlns:a16="http://schemas.microsoft.com/office/drawing/2014/main" id="{4762BF07-2C39-2E9B-8EDE-EB94871F84F9}"/>
              </a:ext>
            </a:extLst>
          </p:cNvPr>
          <p:cNvSpPr txBox="1"/>
          <p:nvPr/>
        </p:nvSpPr>
        <p:spPr>
          <a:xfrm>
            <a:off x="3240239" y="4370231"/>
            <a:ext cx="1704568" cy="369332"/>
          </a:xfrm>
          <a:prstGeom prst="rect">
            <a:avLst/>
          </a:prstGeom>
          <a:noFill/>
        </p:spPr>
        <p:txBody>
          <a:bodyPr wrap="square" rtlCol="0">
            <a:spAutoFit/>
          </a:bodyPr>
          <a:lstStyle/>
          <a:p>
            <a:pPr algn="ctr"/>
            <a:r>
              <a:rPr lang="hu-HU" b="1" dirty="0">
                <a:latin typeface="Montserrat" panose="00000500000000000000" pitchFamily="2" charset="-18"/>
              </a:rPr>
              <a:t>#</a:t>
            </a:r>
            <a:r>
              <a:rPr lang="en-US" b="1" dirty="0">
                <a:latin typeface="Montserrat" panose="00000500000000000000" pitchFamily="2" charset="-18"/>
              </a:rPr>
              <a:t>FFFFFF</a:t>
            </a:r>
            <a:endParaRPr lang="hu-HU" b="1" dirty="0">
              <a:latin typeface="Montserrat" panose="00000500000000000000" pitchFamily="2" charset="-18"/>
            </a:endParaRPr>
          </a:p>
        </p:txBody>
      </p:sp>
      <p:sp>
        <p:nvSpPr>
          <p:cNvPr id="101" name="Szövegdoboz 100">
            <a:extLst>
              <a:ext uri="{FF2B5EF4-FFF2-40B4-BE49-F238E27FC236}">
                <a16:creationId xmlns:a16="http://schemas.microsoft.com/office/drawing/2014/main" id="{5F650E00-289C-70B1-8F06-615ECC0EB90A}"/>
              </a:ext>
            </a:extLst>
          </p:cNvPr>
          <p:cNvSpPr txBox="1"/>
          <p:nvPr/>
        </p:nvSpPr>
        <p:spPr>
          <a:xfrm>
            <a:off x="5237588" y="4370231"/>
            <a:ext cx="1704568" cy="369332"/>
          </a:xfrm>
          <a:prstGeom prst="rect">
            <a:avLst/>
          </a:prstGeom>
          <a:noFill/>
        </p:spPr>
        <p:txBody>
          <a:bodyPr wrap="square" rtlCol="0">
            <a:spAutoFit/>
          </a:bodyPr>
          <a:lstStyle/>
          <a:p>
            <a:pPr algn="ctr"/>
            <a:r>
              <a:rPr lang="hu-HU" b="1" dirty="0">
                <a:latin typeface="Montserrat" panose="00000500000000000000" pitchFamily="2" charset="-18"/>
              </a:rPr>
              <a:t>#</a:t>
            </a:r>
            <a:r>
              <a:rPr lang="en-US" b="1" dirty="0">
                <a:latin typeface="Montserrat" panose="00000500000000000000" pitchFamily="2" charset="-18"/>
              </a:rPr>
              <a:t>5D28FE</a:t>
            </a:r>
            <a:endParaRPr lang="hu-HU" b="1" dirty="0">
              <a:latin typeface="Montserrat" panose="00000500000000000000" pitchFamily="2" charset="-18"/>
            </a:endParaRPr>
          </a:p>
        </p:txBody>
      </p:sp>
      <p:sp>
        <p:nvSpPr>
          <p:cNvPr id="102" name="Szövegdoboz 101">
            <a:extLst>
              <a:ext uri="{FF2B5EF4-FFF2-40B4-BE49-F238E27FC236}">
                <a16:creationId xmlns:a16="http://schemas.microsoft.com/office/drawing/2014/main" id="{ACA30E87-0C24-0E0A-25A5-27EC084FAE33}"/>
              </a:ext>
            </a:extLst>
          </p:cNvPr>
          <p:cNvSpPr txBox="1"/>
          <p:nvPr/>
        </p:nvSpPr>
        <p:spPr>
          <a:xfrm>
            <a:off x="7247195" y="4370231"/>
            <a:ext cx="1704568" cy="369332"/>
          </a:xfrm>
          <a:prstGeom prst="rect">
            <a:avLst/>
          </a:prstGeom>
          <a:noFill/>
        </p:spPr>
        <p:txBody>
          <a:bodyPr wrap="square" rtlCol="0">
            <a:spAutoFit/>
          </a:bodyPr>
          <a:lstStyle/>
          <a:p>
            <a:pPr algn="ctr"/>
            <a:r>
              <a:rPr lang="hu-HU" b="1" dirty="0">
                <a:latin typeface="Montserrat" panose="00000500000000000000" pitchFamily="2" charset="-18"/>
              </a:rPr>
              <a:t>#</a:t>
            </a:r>
            <a:r>
              <a:rPr lang="en-US" b="1" dirty="0">
                <a:latin typeface="Montserrat" panose="00000500000000000000" pitchFamily="2" charset="-18"/>
              </a:rPr>
              <a:t>00FFFF</a:t>
            </a:r>
            <a:endParaRPr lang="hu-HU" b="1" dirty="0">
              <a:latin typeface="Montserrat" panose="00000500000000000000" pitchFamily="2" charset="-18"/>
            </a:endParaRPr>
          </a:p>
        </p:txBody>
      </p:sp>
      <p:sp>
        <p:nvSpPr>
          <p:cNvPr id="103" name="Szövegdoboz 102">
            <a:extLst>
              <a:ext uri="{FF2B5EF4-FFF2-40B4-BE49-F238E27FC236}">
                <a16:creationId xmlns:a16="http://schemas.microsoft.com/office/drawing/2014/main" id="{2ACE293A-4535-3A8B-D690-A0E164FC841E}"/>
              </a:ext>
            </a:extLst>
          </p:cNvPr>
          <p:cNvSpPr txBox="1"/>
          <p:nvPr/>
        </p:nvSpPr>
        <p:spPr>
          <a:xfrm>
            <a:off x="9250671" y="4370231"/>
            <a:ext cx="1704568" cy="369332"/>
          </a:xfrm>
          <a:prstGeom prst="rect">
            <a:avLst/>
          </a:prstGeom>
          <a:noFill/>
        </p:spPr>
        <p:txBody>
          <a:bodyPr wrap="square" rtlCol="0">
            <a:spAutoFit/>
          </a:bodyPr>
          <a:lstStyle/>
          <a:p>
            <a:pPr algn="ctr"/>
            <a:r>
              <a:rPr lang="hu-HU" b="1" dirty="0">
                <a:latin typeface="Montserrat" panose="00000500000000000000" pitchFamily="2" charset="-18"/>
              </a:rPr>
              <a:t>#</a:t>
            </a:r>
            <a:r>
              <a:rPr lang="en-US" b="1" dirty="0">
                <a:latin typeface="Montserrat" panose="00000500000000000000" pitchFamily="2" charset="-18"/>
              </a:rPr>
              <a:t>FF00FF</a:t>
            </a:r>
            <a:endParaRPr lang="hu-HU" b="1" dirty="0">
              <a:latin typeface="Montserrat" panose="00000500000000000000" pitchFamily="2" charset="-18"/>
            </a:endParaRPr>
          </a:p>
        </p:txBody>
      </p:sp>
      <p:sp>
        <p:nvSpPr>
          <p:cNvPr id="3" name="Jobb oldali kapcsos zárójel 2">
            <a:extLst>
              <a:ext uri="{FF2B5EF4-FFF2-40B4-BE49-F238E27FC236}">
                <a16:creationId xmlns:a16="http://schemas.microsoft.com/office/drawing/2014/main" id="{AC372FEC-86BA-927D-A122-F39935F003B5}"/>
              </a:ext>
            </a:extLst>
          </p:cNvPr>
          <p:cNvSpPr/>
          <p:nvPr/>
        </p:nvSpPr>
        <p:spPr>
          <a:xfrm rot="5400000">
            <a:off x="2781352" y="3628546"/>
            <a:ext cx="618864" cy="3117754"/>
          </a:xfrm>
          <a:prstGeom prst="rightBrace">
            <a:avLst/>
          </a:prstGeom>
          <a:solidFill>
            <a:schemeClr val="bg1"/>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hu-HU" dirty="0"/>
          </a:p>
        </p:txBody>
      </p:sp>
      <p:sp>
        <p:nvSpPr>
          <p:cNvPr id="19" name="Szövegdoboz 18">
            <a:extLst>
              <a:ext uri="{FF2B5EF4-FFF2-40B4-BE49-F238E27FC236}">
                <a16:creationId xmlns:a16="http://schemas.microsoft.com/office/drawing/2014/main" id="{9670664B-5467-1E6B-40E2-2966D641B22A}"/>
              </a:ext>
            </a:extLst>
          </p:cNvPr>
          <p:cNvSpPr txBox="1"/>
          <p:nvPr/>
        </p:nvSpPr>
        <p:spPr>
          <a:xfrm>
            <a:off x="2366347" y="5827690"/>
            <a:ext cx="1448873" cy="369332"/>
          </a:xfrm>
          <a:prstGeom prst="rect">
            <a:avLst/>
          </a:prstGeom>
          <a:noFill/>
        </p:spPr>
        <p:txBody>
          <a:bodyPr wrap="square" rtlCol="0">
            <a:spAutoFit/>
          </a:bodyPr>
          <a:lstStyle/>
          <a:p>
            <a:r>
              <a:rPr lang="hu-HU" b="1" dirty="0">
                <a:latin typeface="Monsterrat"/>
              </a:rPr>
              <a:t>Háttérszínek</a:t>
            </a:r>
          </a:p>
        </p:txBody>
      </p:sp>
      <p:sp>
        <p:nvSpPr>
          <p:cNvPr id="20" name="Jobb oldali kapcsos zárójel 19">
            <a:extLst>
              <a:ext uri="{FF2B5EF4-FFF2-40B4-BE49-F238E27FC236}">
                <a16:creationId xmlns:a16="http://schemas.microsoft.com/office/drawing/2014/main" id="{9072AD06-BD28-E012-D9C5-AD628759C6AF}"/>
              </a:ext>
            </a:extLst>
          </p:cNvPr>
          <p:cNvSpPr/>
          <p:nvPr/>
        </p:nvSpPr>
        <p:spPr>
          <a:xfrm rot="5400000">
            <a:off x="7744544" y="2365191"/>
            <a:ext cx="618864" cy="5644463"/>
          </a:xfrm>
          <a:prstGeom prst="rightBrace">
            <a:avLst/>
          </a:prstGeom>
          <a:solidFill>
            <a:schemeClr val="bg1"/>
          </a:solidFill>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hu-HU" dirty="0"/>
          </a:p>
        </p:txBody>
      </p:sp>
      <p:sp>
        <p:nvSpPr>
          <p:cNvPr id="21" name="Szövegdoboz 20">
            <a:extLst>
              <a:ext uri="{FF2B5EF4-FFF2-40B4-BE49-F238E27FC236}">
                <a16:creationId xmlns:a16="http://schemas.microsoft.com/office/drawing/2014/main" id="{5DBAC063-BB45-228E-7AA7-555ADBC70352}"/>
              </a:ext>
            </a:extLst>
          </p:cNvPr>
          <p:cNvSpPr txBox="1"/>
          <p:nvPr/>
        </p:nvSpPr>
        <p:spPr>
          <a:xfrm>
            <a:off x="7575608" y="5808372"/>
            <a:ext cx="1047741" cy="369332"/>
          </a:xfrm>
          <a:prstGeom prst="rect">
            <a:avLst/>
          </a:prstGeom>
          <a:noFill/>
        </p:spPr>
        <p:txBody>
          <a:bodyPr wrap="square" rtlCol="0">
            <a:spAutoFit/>
          </a:bodyPr>
          <a:lstStyle/>
          <a:p>
            <a:r>
              <a:rPr lang="hu-HU" b="1" dirty="0">
                <a:latin typeface="Monsterrat"/>
              </a:rPr>
              <a:t>Fő színek</a:t>
            </a:r>
          </a:p>
        </p:txBody>
      </p:sp>
    </p:spTree>
    <p:extLst>
      <p:ext uri="{BB962C8B-B14F-4D97-AF65-F5344CB8AC3E}">
        <p14:creationId xmlns:p14="http://schemas.microsoft.com/office/powerpoint/2010/main" val="476274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28054C95-C947-C0E8-879A-DF2E896ADE72}"/>
              </a:ext>
            </a:extLst>
          </p:cNvPr>
          <p:cNvSpPr>
            <a:spLocks noGrp="1"/>
          </p:cNvSpPr>
          <p:nvPr>
            <p:ph type="title"/>
          </p:nvPr>
        </p:nvSpPr>
        <p:spPr/>
        <p:txBody>
          <a:bodyPr/>
          <a:lstStyle/>
          <a:p>
            <a:r>
              <a:rPr lang="hu-HU" dirty="0">
                <a:latin typeface="Montserrat" panose="00000500000000000000" pitchFamily="2" charset="-18"/>
              </a:rPr>
              <a:t>Tipográfia</a:t>
            </a:r>
          </a:p>
        </p:txBody>
      </p:sp>
      <p:sp>
        <p:nvSpPr>
          <p:cNvPr id="3" name="Tartalom helye 2">
            <a:extLst>
              <a:ext uri="{FF2B5EF4-FFF2-40B4-BE49-F238E27FC236}">
                <a16:creationId xmlns:a16="http://schemas.microsoft.com/office/drawing/2014/main" id="{8FF9A8F0-254D-5FB9-7007-B3330FFA8DE1}"/>
              </a:ext>
            </a:extLst>
          </p:cNvPr>
          <p:cNvSpPr>
            <a:spLocks noGrp="1"/>
          </p:cNvSpPr>
          <p:nvPr>
            <p:ph idx="1"/>
          </p:nvPr>
        </p:nvSpPr>
        <p:spPr>
          <a:xfrm>
            <a:off x="788187" y="2672109"/>
            <a:ext cx="3674343" cy="3566160"/>
          </a:xfrm>
        </p:spPr>
        <p:txBody>
          <a:bodyPr>
            <a:normAutofit fontScale="77500" lnSpcReduction="20000"/>
          </a:bodyPr>
          <a:lstStyle/>
          <a:p>
            <a:r>
              <a:rPr lang="hu-HU" sz="5700" dirty="0" err="1">
                <a:solidFill>
                  <a:srgbClr val="FF00FF"/>
                </a:solidFill>
                <a:latin typeface="Montserrat" panose="00000500000000000000" pitchFamily="2" charset="-18"/>
              </a:rPr>
              <a:t>Monsterrat</a:t>
            </a:r>
            <a:endParaRPr lang="hu-HU" sz="5700" dirty="0">
              <a:solidFill>
                <a:srgbClr val="FF00FF"/>
              </a:solidFill>
              <a:latin typeface="Montserrat" panose="00000500000000000000" pitchFamily="2" charset="-18"/>
            </a:endParaRPr>
          </a:p>
          <a:p>
            <a:r>
              <a:rPr lang="hu-HU" sz="4800" b="1" dirty="0" err="1">
                <a:solidFill>
                  <a:srgbClr val="BF40FF"/>
                </a:solidFill>
                <a:latin typeface="Montserrat" panose="00000500000000000000" pitchFamily="2" charset="-18"/>
              </a:rPr>
              <a:t>Bold</a:t>
            </a:r>
            <a:endParaRPr lang="hu-HU" sz="4800" b="1" dirty="0">
              <a:solidFill>
                <a:srgbClr val="BF40FF"/>
              </a:solidFill>
              <a:latin typeface="Montserrat" panose="00000500000000000000" pitchFamily="2" charset="-18"/>
            </a:endParaRPr>
          </a:p>
          <a:p>
            <a:r>
              <a:rPr lang="hu-HU" sz="3900" i="1" dirty="0" err="1">
                <a:solidFill>
                  <a:srgbClr val="8080FF"/>
                </a:solidFill>
                <a:latin typeface="Montserrat" panose="00000500000000000000" pitchFamily="2" charset="-18"/>
              </a:rPr>
              <a:t>Italic</a:t>
            </a:r>
            <a:endParaRPr lang="hu-HU" sz="3900" i="1" dirty="0">
              <a:solidFill>
                <a:srgbClr val="8080FF"/>
              </a:solidFill>
              <a:latin typeface="Montserrat" panose="00000500000000000000" pitchFamily="2" charset="-18"/>
            </a:endParaRPr>
          </a:p>
          <a:p>
            <a:r>
              <a:rPr lang="hu-HU" sz="2400" u="sng" dirty="0" err="1">
                <a:solidFill>
                  <a:srgbClr val="40BFFF"/>
                </a:solidFill>
                <a:latin typeface="Montserrat" panose="00000500000000000000" pitchFamily="2" charset="-18"/>
              </a:rPr>
              <a:t>Underlined</a:t>
            </a:r>
            <a:endParaRPr lang="hu-HU" sz="2400" u="sng" dirty="0">
              <a:solidFill>
                <a:srgbClr val="40BFFF"/>
              </a:solidFill>
              <a:latin typeface="Montserrat" panose="00000500000000000000" pitchFamily="2" charset="-18"/>
            </a:endParaRPr>
          </a:p>
          <a:p>
            <a:r>
              <a:rPr lang="hu-HU" sz="1500" cap="small" dirty="0" err="1">
                <a:solidFill>
                  <a:srgbClr val="00FFFF"/>
                </a:solidFill>
                <a:latin typeface="Montserrat" panose="00000500000000000000" pitchFamily="2" charset="-18"/>
              </a:rPr>
              <a:t>Small</a:t>
            </a:r>
            <a:r>
              <a:rPr lang="hu-HU" sz="1500" cap="small" dirty="0">
                <a:solidFill>
                  <a:srgbClr val="00FFFF"/>
                </a:solidFill>
                <a:latin typeface="Montserrat" panose="00000500000000000000" pitchFamily="2" charset="-18"/>
              </a:rPr>
              <a:t> </a:t>
            </a:r>
            <a:r>
              <a:rPr lang="hu-HU" sz="1500" cap="small" dirty="0" err="1">
                <a:solidFill>
                  <a:srgbClr val="00FFFF"/>
                </a:solidFill>
                <a:latin typeface="Montserrat" panose="00000500000000000000" pitchFamily="2" charset="-18"/>
              </a:rPr>
              <a:t>caps</a:t>
            </a:r>
            <a:endParaRPr lang="hu-HU" sz="1500" cap="small" dirty="0">
              <a:solidFill>
                <a:srgbClr val="00FFFF"/>
              </a:solidFill>
              <a:latin typeface="Montserrat" panose="00000500000000000000" pitchFamily="2" charset="-18"/>
            </a:endParaRPr>
          </a:p>
        </p:txBody>
      </p:sp>
      <p:sp>
        <p:nvSpPr>
          <p:cNvPr id="4" name="Tartalom helye 2">
            <a:extLst>
              <a:ext uri="{FF2B5EF4-FFF2-40B4-BE49-F238E27FC236}">
                <a16:creationId xmlns:a16="http://schemas.microsoft.com/office/drawing/2014/main" id="{16E92EC3-39C6-115A-BC84-9C7003BFA03A}"/>
              </a:ext>
            </a:extLst>
          </p:cNvPr>
          <p:cNvSpPr txBox="1">
            <a:spLocks/>
          </p:cNvSpPr>
          <p:nvPr/>
        </p:nvSpPr>
        <p:spPr>
          <a:xfrm>
            <a:off x="5003872" y="2672109"/>
            <a:ext cx="6136353" cy="3566160"/>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hu-HU" sz="1200" dirty="0">
                <a:latin typeface="Monsterrrat"/>
              </a:rPr>
              <a:t>	</a:t>
            </a:r>
            <a:r>
              <a:rPr lang="en-US" dirty="0">
                <a:latin typeface="Monsterrrat"/>
              </a:rPr>
              <a:t>Inspired by the old posters and signs in the traditional Montserrat </a:t>
            </a:r>
            <a:r>
              <a:rPr lang="en-US" dirty="0" err="1">
                <a:latin typeface="Monsterrrat"/>
              </a:rPr>
              <a:t>neighbourhood</a:t>
            </a:r>
            <a:r>
              <a:rPr lang="en-US" dirty="0">
                <a:latin typeface="Monsterrrat"/>
              </a:rPr>
              <a:t> of Buenos Aires, Montserrat Font was created in 2010 by Argentine artist Julieta </a:t>
            </a:r>
            <a:r>
              <a:rPr lang="en-US" dirty="0" err="1">
                <a:latin typeface="Monsterrrat"/>
              </a:rPr>
              <a:t>Ulanovsky</a:t>
            </a:r>
            <a:r>
              <a:rPr lang="en-US" dirty="0">
                <a:latin typeface="Monsterrrat"/>
              </a:rPr>
              <a:t> in a homage to the beauty of the urban typography that emerged in the </a:t>
            </a:r>
            <a:r>
              <a:rPr lang="en-US" dirty="0" err="1">
                <a:latin typeface="Monsterrrat"/>
              </a:rPr>
              <a:t>neighbourhood</a:t>
            </a:r>
            <a:r>
              <a:rPr lang="en-US" dirty="0">
                <a:latin typeface="Monsterrrat"/>
              </a:rPr>
              <a:t> in the first half of the twentieth century. In 2018 Montserrat Font became the official font for documentation, presentations and publicity for the Government of Mexico and since 2021 has been Puerto Rico’s official typeface for body text and its agency’s logos.</a:t>
            </a:r>
            <a:endParaRPr lang="hu-HU" sz="1200" dirty="0">
              <a:solidFill>
                <a:srgbClr val="00FFFF"/>
              </a:solidFill>
              <a:latin typeface="Monsterrrat"/>
            </a:endParaRPr>
          </a:p>
          <a:p>
            <a:pPr marL="0" indent="0" algn="just">
              <a:buNone/>
            </a:pPr>
            <a:r>
              <a:rPr lang="hu-HU" sz="1200" i="1" dirty="0">
                <a:latin typeface="Montserrat" panose="00000500000000000000" pitchFamily="2" charset="-18"/>
              </a:rPr>
              <a:t>Forrás: </a:t>
            </a:r>
            <a:r>
              <a:rPr lang="hu-HU" sz="1200" u="sng" dirty="0">
                <a:solidFill>
                  <a:srgbClr val="BF40FF"/>
                </a:solidFill>
                <a:latin typeface="Montserrat" panose="00000500000000000000" pitchFamily="2" charset="-18"/>
              </a:rPr>
              <a:t>https://fontandswatch.com.au/resources/montserrat-font/</a:t>
            </a:r>
          </a:p>
        </p:txBody>
      </p:sp>
    </p:spTree>
    <p:extLst>
      <p:ext uri="{BB962C8B-B14F-4D97-AF65-F5344CB8AC3E}">
        <p14:creationId xmlns:p14="http://schemas.microsoft.com/office/powerpoint/2010/main" val="15378875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C2CB7-F649-E372-FA34-25F1519556A9}"/>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6C0A7E7E-1EE6-E3EA-54ED-2514E7692337}"/>
              </a:ext>
            </a:extLst>
          </p:cNvPr>
          <p:cNvSpPr>
            <a:spLocks noGrp="1"/>
          </p:cNvSpPr>
          <p:nvPr>
            <p:ph type="title"/>
          </p:nvPr>
        </p:nvSpPr>
        <p:spPr/>
        <p:txBody>
          <a:bodyPr/>
          <a:lstStyle/>
          <a:p>
            <a:r>
              <a:rPr lang="hu-HU" dirty="0">
                <a:latin typeface="Montserrat" panose="00000500000000000000" pitchFamily="2" charset="-18"/>
              </a:rPr>
              <a:t>Ikonok</a:t>
            </a:r>
          </a:p>
        </p:txBody>
      </p:sp>
      <p:sp>
        <p:nvSpPr>
          <p:cNvPr id="3" name="Szövegdoboz 2">
            <a:extLst>
              <a:ext uri="{FF2B5EF4-FFF2-40B4-BE49-F238E27FC236}">
                <a16:creationId xmlns:a16="http://schemas.microsoft.com/office/drawing/2014/main" id="{06EF0BFD-0558-E3F0-B69B-761E1153B801}"/>
              </a:ext>
            </a:extLst>
          </p:cNvPr>
          <p:cNvSpPr txBox="1"/>
          <p:nvPr/>
        </p:nvSpPr>
        <p:spPr>
          <a:xfrm>
            <a:off x="721217" y="2395470"/>
            <a:ext cx="3290552" cy="538609"/>
          </a:xfrm>
          <a:prstGeom prst="rect">
            <a:avLst/>
          </a:prstGeom>
          <a:noFill/>
        </p:spPr>
        <p:txBody>
          <a:bodyPr wrap="square" rtlCol="0">
            <a:spAutoFit/>
          </a:bodyPr>
          <a:lstStyle/>
          <a:p>
            <a:r>
              <a:rPr lang="hu-HU" dirty="0" err="1"/>
              <a:t>Tabler</a:t>
            </a:r>
            <a:r>
              <a:rPr lang="hu-HU" dirty="0"/>
              <a:t> </a:t>
            </a:r>
            <a:r>
              <a:rPr lang="hu-HU" dirty="0" err="1"/>
              <a:t>Icons</a:t>
            </a:r>
            <a:r>
              <a:rPr lang="hu-HU" dirty="0"/>
              <a:t> </a:t>
            </a:r>
            <a:r>
              <a:rPr lang="hu-HU" dirty="0" err="1"/>
              <a:t>by</a:t>
            </a:r>
            <a:r>
              <a:rPr lang="hu-HU" dirty="0"/>
              <a:t> </a:t>
            </a:r>
            <a:r>
              <a:rPr lang="hu-HU" dirty="0" err="1"/>
              <a:t>Pawel</a:t>
            </a:r>
            <a:r>
              <a:rPr lang="hu-HU" dirty="0"/>
              <a:t> Kuna:</a:t>
            </a:r>
          </a:p>
          <a:p>
            <a:r>
              <a:rPr lang="hu-HU" sz="1100" dirty="0">
                <a:solidFill>
                  <a:srgbClr val="BF40FF"/>
                </a:solidFill>
              </a:rPr>
              <a:t>https://icon-sets.iconify.design/tabler/?keyword=t</a:t>
            </a:r>
          </a:p>
        </p:txBody>
      </p:sp>
    </p:spTree>
    <p:extLst>
      <p:ext uri="{BB962C8B-B14F-4D97-AF65-F5344CB8AC3E}">
        <p14:creationId xmlns:p14="http://schemas.microsoft.com/office/powerpoint/2010/main" val="4221162758"/>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docProps/app.xml><?xml version="1.0" encoding="utf-8"?>
<Properties xmlns="http://schemas.openxmlformats.org/officeDocument/2006/extended-properties" xmlns:vt="http://schemas.openxmlformats.org/officeDocument/2006/docPropsVTypes">
  <Template/>
  <TotalTime>79</TotalTime>
  <Words>310</Words>
  <Application>Microsoft Office PowerPoint</Application>
  <PresentationFormat>Szélesvásznú</PresentationFormat>
  <Paragraphs>52</Paragraphs>
  <Slides>11</Slides>
  <Notes>0</Notes>
  <HiddenSlides>0</HiddenSlides>
  <MMClips>0</MMClips>
  <ScaleCrop>false</ScaleCrop>
  <HeadingPairs>
    <vt:vector size="6" baseType="variant">
      <vt:variant>
        <vt:lpstr>Használt betűtípusok</vt:lpstr>
      </vt:variant>
      <vt:variant>
        <vt:i4>6</vt:i4>
      </vt:variant>
      <vt:variant>
        <vt:lpstr>Téma</vt:lpstr>
      </vt:variant>
      <vt:variant>
        <vt:i4>1</vt:i4>
      </vt:variant>
      <vt:variant>
        <vt:lpstr>Diacímek</vt:lpstr>
      </vt:variant>
      <vt:variant>
        <vt:i4>11</vt:i4>
      </vt:variant>
    </vt:vector>
  </HeadingPairs>
  <TitlesOfParts>
    <vt:vector size="18" baseType="lpstr">
      <vt:lpstr>Arial</vt:lpstr>
      <vt:lpstr>Grandview Display</vt:lpstr>
      <vt:lpstr>Monsterrat</vt:lpstr>
      <vt:lpstr>Monsterrrat</vt:lpstr>
      <vt:lpstr>Montserrat</vt:lpstr>
      <vt:lpstr>Montserrat ExtraBold</vt:lpstr>
      <vt:lpstr>DashVTI</vt:lpstr>
      <vt:lpstr>MyTunes – zene streaming</vt:lpstr>
      <vt:lpstr>Projekt célja</vt:lpstr>
      <vt:lpstr>Projekt készítői</vt:lpstr>
      <vt:lpstr>PowerPoint-bemutató</vt:lpstr>
      <vt:lpstr>Gantt diagram</vt:lpstr>
      <vt:lpstr>Wireframe</vt:lpstr>
      <vt:lpstr>Arculat design guide</vt:lpstr>
      <vt:lpstr>Logók</vt:lpstr>
      <vt:lpstr>Színpaletta</vt:lpstr>
      <vt:lpstr>Tipográfia</vt:lpstr>
      <vt:lpstr>Ikonok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O365 felhasználó</dc:creator>
  <cp:lastModifiedBy>O365 felhasználó</cp:lastModifiedBy>
  <cp:revision>28</cp:revision>
  <dcterms:created xsi:type="dcterms:W3CDTF">2025-11-16T16:41:49Z</dcterms:created>
  <dcterms:modified xsi:type="dcterms:W3CDTF">2025-12-11T16:19:19Z</dcterms:modified>
</cp:coreProperties>
</file>